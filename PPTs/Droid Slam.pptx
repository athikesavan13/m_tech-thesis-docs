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63" r:id="rId6"/>
    <p:sldId id="262" r:id="rId7"/>
    <p:sldId id="261" r:id="rId8"/>
    <p:sldId id="260" r:id="rId9"/>
    <p:sldId id="259" r:id="rId10"/>
    <p:sldId id="265" r:id="rId11"/>
    <p:sldId id="266" r:id="rId12"/>
    <p:sldId id="267" r:id="rId13"/>
    <p:sldId id="276" r:id="rId14"/>
    <p:sldId id="269" r:id="rId15"/>
    <p:sldId id="268" r:id="rId16"/>
    <p:sldId id="270" r:id="rId17"/>
    <p:sldId id="271" r:id="rId18"/>
    <p:sldId id="272" r:id="rId19"/>
    <p:sldId id="273" r:id="rId20"/>
    <p:sldId id="274" r:id="rId21"/>
    <p:sldId id="275" r:id="rId22"/>
    <p:sldId id="280" r:id="rId23"/>
    <p:sldId id="277" r:id="rId24"/>
    <p:sldId id="278" r:id="rId25"/>
    <p:sldId id="279" r:id="rId26"/>
    <p:sldId id="28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4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E4103-213C-7022-1F9A-C027E7FBC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82B46D-E674-09B9-F09A-394F4BE3A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5E659-A6E9-A91B-F71F-7EC0A6F2D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BE2B-7F42-4342-8C9F-78E886865EA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37985-FAB2-6BF5-533C-EB917F1B8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28FBE-89EE-F6C7-811E-F41610492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8F43-1B04-4C6F-B8E3-F1B262AE3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911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5CC70-DDB6-4A9C-6AA8-BFC619BD8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AEDDF-A3B1-AFAB-D30C-7F7A9D7E3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47E0D-D8AE-47E2-2A08-7B7C4BD14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BE2B-7F42-4342-8C9F-78E886865EA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88211-CBD8-0866-E9AE-643DC353F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C0B6E-ADE2-6C68-8F02-6FC8AD299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8F43-1B04-4C6F-B8E3-F1B262AE3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849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A0908-AA5D-F1D4-EA56-C048CE167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7F616-9E4E-FD5A-B4AF-64E480D5C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9BA26-B1F8-9BE0-2576-392AAA597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BE2B-7F42-4342-8C9F-78E886865EA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F9181-1220-4A36-742B-53478B4BD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96C6E-0EEB-1B6E-61E5-5FFF5BC7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8F43-1B04-4C6F-B8E3-F1B262AE3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553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0CC31-6718-9C1B-A774-E5956D2D4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FCAB5-9607-B209-2B70-FDAA0A949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A69A3-4663-BC8A-C3FF-9AEFD0A24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2C3D4-2DF5-E27A-2113-12A62F3C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BE2B-7F42-4342-8C9F-78E886865EA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B8E72-7240-BC3D-C522-CD90E5B01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8981F-6E39-3368-7AE6-E30EAC5FE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8F43-1B04-4C6F-B8E3-F1B262AE3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446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5CF12-9DEA-480C-900F-3D98A2BE3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645B9-6170-82E6-8D2F-84AACA8A8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A77AD-FB2F-7191-1EE1-B42256415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D02393-C6D8-CE92-D568-D08E5D698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8071F0-4878-6A68-FF10-14C8584088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8E3A7E-F576-83D9-FB53-4933D197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BE2B-7F42-4342-8C9F-78E886865EA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EF774B-62EE-5B1E-F744-44EFA941F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F57BB9-8B84-7A55-E4AC-F48454977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8F43-1B04-4C6F-B8E3-F1B262AE3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792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E6333-7035-EC49-C650-EF80BD1D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69F610-3904-06F0-C87F-F0A53199C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BE2B-7F42-4342-8C9F-78E886865EA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E8CCCA-B56D-30F8-9D39-CAE5E2CD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D5A8C-B49E-7DA5-6878-9D4DDB0DC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8F43-1B04-4C6F-B8E3-F1B262AE3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326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8AC479-3C35-BB42-D292-30148683C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BE2B-7F42-4342-8C9F-78E886865EA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2C31D9-DA63-5B7D-E87E-8F24F79AD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E32CD-8E86-92C3-2E2F-9CCEB74FB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8F43-1B04-4C6F-B8E3-F1B262AE3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675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246F9-4712-4D9C-68EF-D7871325C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B4140-64DC-284F-7D32-637FC2C42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88C18F-E2E6-D91B-C2BD-89EE5CFBB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5C195-EA3D-F9AB-3A24-6AF8698FE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BE2B-7F42-4342-8C9F-78E886865EA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A74B0-C133-C573-F402-7AA49E3EB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2D2DB-C463-224D-1949-C60EBAD4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8F43-1B04-4C6F-B8E3-F1B262AE3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2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7F952-B553-2627-936A-8C0E770D1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8E9AEA-53EC-F534-D36F-3745839848E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9AA76-22F5-0DB7-CAEE-E79EEA162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E028A-7335-C5BE-8230-A13731032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BE2B-7F42-4342-8C9F-78E886865EA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996A2-0A76-6DCA-0BDE-8A378F406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B7B62B-557F-2E04-606F-B315C6E0A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8F43-1B04-4C6F-B8E3-F1B262AE3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580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50BE8-1811-5255-A599-818138363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818301-E655-A172-A022-A4B67C9A8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1E673-C9AC-E86F-C2EF-72973BF0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BE2B-7F42-4342-8C9F-78E886865EA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2F7BA-368D-CBD5-C105-D5B16921B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A64DE-CA28-BDD5-A59A-4173115BB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8F43-1B04-4C6F-B8E3-F1B262AE3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661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E16F2E-D652-508F-77CD-E24B67177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0CB3F-7573-EA5D-E47F-8A0DE4A9F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79DC9-0C07-AB5A-6956-EB7405275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BE2B-7F42-4342-8C9F-78E886865EA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77485-6A88-89ED-378B-8D522DFB7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CF42E-D070-0993-0448-0089826C4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B8F43-1B04-4C6F-B8E3-F1B262AE3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760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1467BE-EFD6-9A8F-7CDF-016C7FC70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F6A4A-7EB9-D36B-F540-AE53A061D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7D336-9699-DC05-2B5D-793A10909F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EBBE2B-7F42-4342-8C9F-78E886865EA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EBC70-FD2F-8D3F-B439-8B61F10A6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3C1B-258B-B97A-C0D7-AD3ED76C7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B8F43-1B04-4C6F-B8E3-F1B262AE3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547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DB9139-D6C7-0BB6-4374-EC397E2F9F7E}"/>
              </a:ext>
            </a:extLst>
          </p:cNvPr>
          <p:cNvSpPr txBox="1"/>
          <p:nvPr/>
        </p:nvSpPr>
        <p:spPr>
          <a:xfrm>
            <a:off x="502920" y="405537"/>
            <a:ext cx="6093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DROID-SLAM in the Wild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BAF558-AC5C-E354-ED99-A62CFA6B74CA}"/>
              </a:ext>
            </a:extLst>
          </p:cNvPr>
          <p:cNvSpPr txBox="1"/>
          <p:nvPr/>
        </p:nvSpPr>
        <p:spPr>
          <a:xfrm>
            <a:off x="509847" y="1043352"/>
            <a:ext cx="11172306" cy="5230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solidFill>
                  <a:srgbClr val="00B050"/>
                </a:solidFill>
              </a:rPr>
              <a:t>Problem addressed: </a:t>
            </a:r>
            <a:r>
              <a:rPr lang="en-US" sz="2500" dirty="0"/>
              <a:t>Traditional RGB SLAM assumes a mostly static environment, so moving objects can cause camera-tracking failures and inaccurate 3D reconstruction, especially in crowded and cluttered scenes.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rgbClr val="00B050"/>
                </a:solidFill>
              </a:rPr>
              <a:t>Proposed solution: </a:t>
            </a:r>
            <a:r>
              <a:rPr lang="en-US" sz="2500" dirty="0"/>
              <a:t>DROID-W estimates per-pixel uncertainty using multi-view visual feature inconsistency and incorporates it into differentiable, uncertainty-aware Bundle Adjustment.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rgbClr val="00B050"/>
                </a:solidFill>
              </a:rPr>
              <a:t>Key benefit: </a:t>
            </a:r>
            <a:r>
              <a:rPr lang="en-US" sz="2500" dirty="0"/>
              <a:t>Reduces the influence of unreliable visual observations without relying entirely on predefined dynamic-object categories, enabling more robust camera-pose estimation and 3D mapping at approximately 10 FPS.</a:t>
            </a:r>
          </a:p>
        </p:txBody>
      </p:sp>
    </p:spTree>
    <p:extLst>
      <p:ext uri="{BB962C8B-B14F-4D97-AF65-F5344CB8AC3E}">
        <p14:creationId xmlns:p14="http://schemas.microsoft.com/office/powerpoint/2010/main" val="901021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5ADFC0-2CDA-D7C1-DE73-B89ED14BD07A}"/>
              </a:ext>
            </a:extLst>
          </p:cNvPr>
          <p:cNvSpPr txBox="1"/>
          <p:nvPr/>
        </p:nvSpPr>
        <p:spPr>
          <a:xfrm>
            <a:off x="1113906" y="612844"/>
            <a:ext cx="899021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Problem: </a:t>
            </a:r>
            <a:r>
              <a:rPr lang="en-US" dirty="0"/>
              <a:t>Traditional SLAM assumes static scenes, so dynamic and non-rigid objects cause camera-pose errors and inaccurate 3D reconstruction.</a:t>
            </a:r>
          </a:p>
          <a:p>
            <a:endParaRPr lang="en-US" dirty="0"/>
          </a:p>
          <a:p>
            <a:r>
              <a:rPr lang="en-US" b="1" dirty="0">
                <a:solidFill>
                  <a:srgbClr val="00B050"/>
                </a:solidFill>
              </a:rPr>
              <a:t>Limitation of existing methods: </a:t>
            </a:r>
            <a:r>
              <a:rPr lang="en-US" dirty="0"/>
              <a:t>Motion detection and segmentation methods depend on predefined dynamic-object knowledge, while existing uncertainty-aware methods often require a reliable static 3D map to estimate pixel-wise uncertainty.</a:t>
            </a:r>
          </a:p>
          <a:p>
            <a:endParaRPr lang="en-US" dirty="0"/>
          </a:p>
          <a:p>
            <a:r>
              <a:rPr lang="en-US" b="1" dirty="0">
                <a:solidFill>
                  <a:srgbClr val="00B050"/>
                </a:solidFill>
              </a:rPr>
              <a:t>Proposed solution </a:t>
            </a:r>
            <a:r>
              <a:rPr lang="en-US" dirty="0"/>
              <a:t>— DROID-W: Extends DROID-SLAM to dynamic environments by integrating uncertainty optimization into differentiable Bundle Adjustment (BA), jointly updating pixel-wise uncertainty, camera poses, and scene geometry using multi-view visual feature similarity.</a:t>
            </a:r>
          </a:p>
          <a:p>
            <a:endParaRPr lang="en-US" dirty="0"/>
          </a:p>
          <a:p>
            <a:r>
              <a:rPr lang="en-US" b="1" dirty="0">
                <a:solidFill>
                  <a:srgbClr val="00B050"/>
                </a:solidFill>
              </a:rPr>
              <a:t>Key advantage: </a:t>
            </a:r>
            <a:r>
              <a:rPr lang="en-US" dirty="0"/>
              <a:t>Estimates uncertainty without relying on predefined motion priors or high-quality geometric maps, improving robustness in complex, cluttered, real-world scenes.</a:t>
            </a:r>
          </a:p>
          <a:p>
            <a:endParaRPr lang="en-US" dirty="0"/>
          </a:p>
          <a:p>
            <a:r>
              <a:rPr lang="en-US" b="1" dirty="0">
                <a:solidFill>
                  <a:srgbClr val="00B050"/>
                </a:solidFill>
              </a:rPr>
              <a:t>Additional contribution: </a:t>
            </a:r>
            <a:r>
              <a:rPr lang="en-US" dirty="0"/>
              <a:t>Introduces the DROID-W dataset with diverse outdoor dynamic scenes and YouTube videos for in-the-wild evaluation.</a:t>
            </a:r>
          </a:p>
          <a:p>
            <a:endParaRPr lang="en-US" dirty="0"/>
          </a:p>
          <a:p>
            <a:r>
              <a:rPr lang="en-US" b="1" dirty="0">
                <a:solidFill>
                  <a:srgbClr val="00B050"/>
                </a:solidFill>
              </a:rPr>
              <a:t>Result: </a:t>
            </a:r>
            <a:r>
              <a:rPr lang="en-US" dirty="0"/>
              <a:t>Achieves state-of-the-art camera tracking and 3D geometry reconstruction in the evaluated scenarios at approximately 10 FPS.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9561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C38B7E-5F8A-C063-3F2C-F92A1C2FF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364" y="1773243"/>
            <a:ext cx="8805245" cy="285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025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2EC963-B401-83BC-7B50-D444D24EC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19" y="1103115"/>
            <a:ext cx="11004604" cy="405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988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B9F499-DA0B-77F7-9F5F-5A2A10DE8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198" y="326423"/>
            <a:ext cx="8471201" cy="620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217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D281A8-E806-4037-6EA4-042E360FC362}"/>
              </a:ext>
            </a:extLst>
          </p:cNvPr>
          <p:cNvSpPr txBox="1"/>
          <p:nvPr/>
        </p:nvSpPr>
        <p:spPr>
          <a:xfrm>
            <a:off x="1300942" y="1383005"/>
            <a:ext cx="79095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Differential bundle adjustment (BA)</a:t>
            </a:r>
            <a:endParaRPr lang="en-I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Bundle adjustment is an optimization process that jointly refines: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Camera poses.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Scene geometry, represented here by inverse depths.</a:t>
            </a:r>
          </a:p>
          <a:p>
            <a:pPr indent="0" algn="l"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The word differentiable means that the geometric operations can be differentiated with respect to the quantities being optimized.</a:t>
            </a:r>
          </a:p>
          <a:p>
            <a:pPr indent="0" algn="l">
              <a:buNone/>
            </a:pPr>
            <a:endParaRPr lang="en-IN" dirty="0"/>
          </a:p>
          <a:p>
            <a:pPr indent="0" algn="l">
              <a:buNone/>
            </a:pPr>
            <a:endParaRPr lang="en-I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Their derivatives tell the optimizer how changing a pose or depth would change the predicted pixel locations.</a:t>
            </a:r>
          </a:p>
          <a:p>
            <a:pPr indent="0" algn="l"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DROID-SLAM uses a differentiable BA layer so that the geometric optimization can also participate in learning the neural network.</a:t>
            </a:r>
            <a:endParaRPr lang="en-IN" sz="1200" b="0" i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4250442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FD3EC9-9B9F-30D3-4E98-4C432F094486}"/>
              </a:ext>
            </a:extLst>
          </p:cNvPr>
          <p:cNvSpPr txBox="1"/>
          <p:nvPr/>
        </p:nvSpPr>
        <p:spPr>
          <a:xfrm>
            <a:off x="436418" y="505290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Predicting where a pixel should appear in another image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4BFC4F-C55E-14E6-A80F-B057B416B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18" y="1711194"/>
            <a:ext cx="10603814" cy="39747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3E0E6E-E47E-2250-96E9-F4E2BF2DA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119" y="874622"/>
            <a:ext cx="3076463" cy="273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128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0C3578-B6C2-9FAD-B9F5-3F2E0B86D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8" y="564075"/>
            <a:ext cx="10002107" cy="2864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B6FBA2-44FA-8535-B6DB-043B4EC83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8" y="3867083"/>
            <a:ext cx="7001034" cy="12369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E5972B-F0EB-3C70-CEE4-0729A5509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1463" y="5365221"/>
            <a:ext cx="8529074" cy="123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109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E7DC31-DB36-B8FA-6E27-12DC41B10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18" y="444940"/>
            <a:ext cx="7738148" cy="11677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D43740-E667-B073-0DE2-5A9C70993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405" y="2332304"/>
            <a:ext cx="3650346" cy="6986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4F9856-359C-5C31-7D88-0CBC5CAAAD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115" y="2155707"/>
            <a:ext cx="2777382" cy="8752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4DF8A0-8A0A-805F-8C0B-927BB13334FF}"/>
              </a:ext>
            </a:extLst>
          </p:cNvPr>
          <p:cNvSpPr txBox="1"/>
          <p:nvPr/>
        </p:nvSpPr>
        <p:spPr>
          <a:xfrm>
            <a:off x="818804" y="3250875"/>
            <a:ext cx="49391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computed from the current pose and inverse-depth estimates.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2A0AA2-67EA-744A-CB23-2ABC4F75E504}"/>
              </a:ext>
            </a:extLst>
          </p:cNvPr>
          <p:cNvSpPr txBox="1"/>
          <p:nvPr/>
        </p:nvSpPr>
        <p:spPr>
          <a:xfrm>
            <a:off x="6434051" y="3250874"/>
            <a:ext cx="5399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each grid position in image (</a:t>
            </a:r>
            <a:r>
              <a:rPr lang="en-US" dirty="0" err="1"/>
              <a:t>i</a:t>
            </a:r>
            <a:r>
              <a:rPr lang="en-US" dirty="0"/>
              <a:t>), the network estimates the corresponding location in image (j)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9485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CF5F47-A048-C257-DCC6-2BC5DD364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98" y="736217"/>
            <a:ext cx="9027618" cy="193700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82AEFD7-AA4E-ADC8-F51E-2697EA90D4A1}"/>
              </a:ext>
            </a:extLst>
          </p:cNvPr>
          <p:cNvSpPr/>
          <p:nvPr/>
        </p:nvSpPr>
        <p:spPr>
          <a:xfrm>
            <a:off x="648398" y="736217"/>
            <a:ext cx="216126" cy="3943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7C1BA4-0414-3409-5086-4981F64E32AA}"/>
              </a:ext>
            </a:extLst>
          </p:cNvPr>
          <p:cNvSpPr txBox="1"/>
          <p:nvPr/>
        </p:nvSpPr>
        <p:spPr>
          <a:xfrm>
            <a:off x="648398" y="2880988"/>
            <a:ext cx="10237123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Not every correspondence is equally reliable. A featureless wall, an occluded region, a moving person, or a repetitive texture may produce an uncertain correspondence.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If every pixel were trusted equally, incorrect correspondences could distort the estimated camera motion and scene depth. </a:t>
            </a:r>
          </a:p>
          <a:p>
            <a:pPr>
              <a:lnSpc>
                <a:spcPct val="150000"/>
              </a:lnSpc>
            </a:pPr>
            <a:r>
              <a:rPr lang="en-US" dirty="0"/>
              <a:t>What does the confidence do?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High confidence means the correspondence is trusted more.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Low confidence means the correspondence is trusted less. The exact interpretation of in the objective is important: it is used as a weight or, equivalently under the usual Gaussian-error interpretation, as an inverse-uncertainty quantity.</a:t>
            </a:r>
          </a:p>
        </p:txBody>
      </p:sp>
    </p:spTree>
    <p:extLst>
      <p:ext uri="{BB962C8B-B14F-4D97-AF65-F5344CB8AC3E}">
        <p14:creationId xmlns:p14="http://schemas.microsoft.com/office/powerpoint/2010/main" val="3200503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5C2A04-7B78-45F4-EB44-5F0A3DB5755B}"/>
              </a:ext>
            </a:extLst>
          </p:cNvPr>
          <p:cNvSpPr txBox="1"/>
          <p:nvPr/>
        </p:nvSpPr>
        <p:spPr>
          <a:xfrm>
            <a:off x="419792" y="383417"/>
            <a:ext cx="8474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bundle-adjustment objective The paper writes the energy as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1F5A4-3E8D-3FF2-8785-1F2ECCF48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320" y="885753"/>
            <a:ext cx="3352416" cy="17244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F1F8CA-4154-CC2C-6889-3C14FBF2F9B3}"/>
              </a:ext>
            </a:extLst>
          </p:cNvPr>
          <p:cNvSpPr txBox="1"/>
          <p:nvPr/>
        </p:nvSpPr>
        <p:spPr>
          <a:xfrm>
            <a:off x="419792" y="2832992"/>
            <a:ext cx="11251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What are  G′  and  d′ ? These represent the collection of pose and inverse-depth estimates being optimized.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8C2055-1806-A0BD-A592-99AF52425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873" y="3425119"/>
            <a:ext cx="2903549" cy="14128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221B94-F331-013D-354E-42560FB10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92" y="5454694"/>
            <a:ext cx="4805850" cy="10351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95197B-B568-D4DB-69A9-90DBBBA68D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0525" y="5454694"/>
            <a:ext cx="6290544" cy="79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83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224C38-951D-DD62-7370-036B9AFF768F}"/>
              </a:ext>
            </a:extLst>
          </p:cNvPr>
          <p:cNvSpPr txBox="1"/>
          <p:nvPr/>
        </p:nvSpPr>
        <p:spPr>
          <a:xfrm>
            <a:off x="1346663" y="623422"/>
            <a:ext cx="8557952" cy="3376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DROID-SLAM uses the Gauss–Newton algorithm to obtain an iterative solution.</a:t>
            </a:r>
          </a:p>
          <a:p>
            <a:pPr>
              <a:lnSpc>
                <a:spcPct val="150000"/>
              </a:lnSpc>
            </a:pPr>
            <a:r>
              <a:rPr lang="en-US" dirty="0"/>
              <a:t>The fundamental idea is: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Start with the current pose and depth estimates.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Calculate the current residuals.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Approximate how the residuals change for small parameter updates.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Solve a linear system for those updates.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Apply the updates.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Recompute the residuals and repeat.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69522-C47E-B325-C79A-F0681C61B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04" y="4291334"/>
            <a:ext cx="7075797" cy="209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001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9FB5DA-D2DF-6505-6887-FBCA3B9D9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76" y="781397"/>
            <a:ext cx="7216677" cy="487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789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7E4B49-1FF7-5E2A-4483-FC74C7D30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664" y="688662"/>
            <a:ext cx="6933805" cy="577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856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A8078FB-F800-FF51-0BF3-353C5BEA1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993" y="2128058"/>
            <a:ext cx="7970705" cy="213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64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6B783C-E771-7323-521F-6C7BFC9F8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586" y="1113204"/>
            <a:ext cx="9217614" cy="52569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5F085F-5B16-BF97-709B-5D2AE6A10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586" y="255834"/>
            <a:ext cx="8230749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500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5AD352-087B-FE22-3035-9BB730346EEF}"/>
              </a:ext>
            </a:extLst>
          </p:cNvPr>
          <p:cNvSpPr txBox="1"/>
          <p:nvPr/>
        </p:nvSpPr>
        <p:spPr>
          <a:xfrm>
            <a:off x="519546" y="377371"/>
            <a:ext cx="6093228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Uncertainty Optimization:</a:t>
            </a:r>
            <a:endParaRPr lang="en-IN" sz="1950" b="0" i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B599BF-D934-08BC-8776-E3D9D30ECA8C}"/>
              </a:ext>
            </a:extLst>
          </p:cNvPr>
          <p:cNvSpPr txBox="1"/>
          <p:nvPr/>
        </p:nvSpPr>
        <p:spPr>
          <a:xfrm>
            <a:off x="1350818" y="904578"/>
            <a:ext cx="99877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optimization has three main ingredients: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feature-similarity loss that encourages inconsistent correspondences to receive high uncertainty.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logarithmic prior that prevents uncertainty from growing without bound.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learned mapping from DINOv2 features to uncertainty, which regularizes the uncertainty spatially.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0B66C1-2275-D5AA-8F88-B63886F97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831" y="3176150"/>
            <a:ext cx="6944694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509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86B6DE-DC10-EA4F-1897-1BB8A4D1E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65" y="348600"/>
            <a:ext cx="8889081" cy="60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983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ADC48E-82B7-7CA9-668A-7998295F3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233" y="1440368"/>
            <a:ext cx="9813533" cy="338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804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1A39DE-2597-9617-7437-AFFF26133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053" y="790334"/>
            <a:ext cx="8571533" cy="479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27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B30C51-D7FA-73A2-74A9-DC9186A43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655" y="1870056"/>
            <a:ext cx="9206272" cy="311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460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E4FDB7-FD70-2B6D-D315-C6A208F96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381" y="1389435"/>
            <a:ext cx="5572903" cy="1286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0D2384-62D2-DAEA-0E48-7BA6E943E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65" y="716167"/>
            <a:ext cx="4572638" cy="371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974B67-0E49-25DD-7917-0682CA6919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552"/>
          <a:stretch>
            <a:fillRect/>
          </a:stretch>
        </p:blipFill>
        <p:spPr>
          <a:xfrm>
            <a:off x="2215846" y="3239406"/>
            <a:ext cx="6430272" cy="178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8976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1D6B70-4A13-A906-3D55-9BB8E660BC50}"/>
              </a:ext>
            </a:extLst>
          </p:cNvPr>
          <p:cNvSpPr txBox="1"/>
          <p:nvPr/>
        </p:nvSpPr>
        <p:spPr>
          <a:xfrm>
            <a:off x="2174471" y="1985368"/>
            <a:ext cx="78430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Uncertainty regularization — Why learn uncertainty from DINOv2 features?</a:t>
            </a:r>
            <a:endParaRPr lang="en-I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So far, uncertainty has been treated as an independent variable for every pixel.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Suppose an image contains uncertainty values.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Directly optimizing all of them independently can produce a noisy uncertainty map: </a:t>
            </a:r>
            <a:r>
              <a:rPr lang="en-IN" sz="1800" b="0" i="0" dirty="0" err="1">
                <a:solidFill>
                  <a:schemeClr val="tx1"/>
                </a:solidFill>
                <a:effectLst/>
                <a:latin typeface="+mn-lt"/>
              </a:rPr>
              <a:t>neighboring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pixels might receive very different uncertainty values even when they belong to the same object.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This is called spatial inconsistency or overfitting to local noise.</a:t>
            </a:r>
            <a:endParaRPr lang="en-IN" sz="1800" b="0" i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28508254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9D4584-615E-384F-1B67-B38EA60DF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722" y="2044932"/>
            <a:ext cx="7660252" cy="24768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BB1A9D-27C2-D3B5-0778-DB7C1FD64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188" y="395000"/>
            <a:ext cx="4307812" cy="288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675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AD5FA-6F10-D1E5-736F-E60DB9E6B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720" y="550421"/>
            <a:ext cx="7860070" cy="575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607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6B3461-1B0D-EE01-3A78-513B2C4C7DA9}"/>
              </a:ext>
            </a:extLst>
          </p:cNvPr>
          <p:cNvSpPr txBox="1"/>
          <p:nvPr/>
        </p:nvSpPr>
        <p:spPr>
          <a:xfrm>
            <a:off x="1064028" y="1529542"/>
            <a:ext cx="829194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Dynamic objects: </a:t>
            </a:r>
            <a:r>
              <a:rPr lang="en-US" dirty="0"/>
              <a:t>Moving objects introduce unreliable reprojection errors and degrade camera pose estimation.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Visually complex scenes: </a:t>
            </a:r>
            <a:r>
              <a:rPr lang="en-US" dirty="0"/>
              <a:t>Motion blur, overexposure, clutter, and highly textured backgrounds can degrade mapping and uncertainty estimation.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Initialization: </a:t>
            </a:r>
            <a:r>
              <a:rPr lang="en-US" dirty="0"/>
              <a:t>Uncertainty estimation can be inaccurate when initial camera poses are unreliable.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Runtime: </a:t>
            </a:r>
            <a:r>
              <a:rPr lang="en-US" dirty="0"/>
              <a:t>The method is slightly slower than DROID-SLAM because of monocular depth estimation and DINOv2 feature extraction.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Limitations of other methods: </a:t>
            </a:r>
            <a:r>
              <a:rPr lang="en-US" dirty="0" err="1"/>
              <a:t>WildGS</a:t>
            </a:r>
            <a:r>
              <a:rPr lang="en-US" dirty="0"/>
              <a:t>-SLAM can produce incorrect uncertainty estimates and reconstruction failures; feed-forward methods such as MonST3R and TTT3R show higher tracking errors in the reported experiments.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70C067-6CAC-A5F7-FADB-2D0BBD655488}"/>
              </a:ext>
            </a:extLst>
          </p:cNvPr>
          <p:cNvSpPr txBox="1"/>
          <p:nvPr/>
        </p:nvSpPr>
        <p:spPr>
          <a:xfrm>
            <a:off x="781396" y="648393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Ablation Studies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5043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782</Words>
  <Application>Microsoft Office PowerPoint</Application>
  <PresentationFormat>Widescreen</PresentationFormat>
  <Paragraphs>58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Athikesavan V</dc:creator>
  <cp:lastModifiedBy>Athikesavan V</cp:lastModifiedBy>
  <cp:revision>2</cp:revision>
  <dcterms:created xsi:type="dcterms:W3CDTF">2026-10-21T01:36:23Z</dcterms:created>
  <dcterms:modified xsi:type="dcterms:W3CDTF">2026-10-21T04:22:37Z</dcterms:modified>
</cp:coreProperties>
</file>