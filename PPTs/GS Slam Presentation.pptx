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7" r:id="rId2"/>
    <p:sldId id="262" r:id="rId3"/>
    <p:sldId id="260" r:id="rId4"/>
    <p:sldId id="261" r:id="rId5"/>
    <p:sldId id="259" r:id="rId6"/>
    <p:sldId id="263" r:id="rId7"/>
    <p:sldId id="264" r:id="rId8"/>
    <p:sldId id="265" r:id="rId9"/>
    <p:sldId id="266" r:id="rId10"/>
    <p:sldId id="267" r:id="rId11"/>
    <p:sldId id="269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58" r:id="rId20"/>
    <p:sldId id="277" r:id="rId21"/>
    <p:sldId id="278" r:id="rId22"/>
    <p:sldId id="276" r:id="rId23"/>
    <p:sldId id="279" r:id="rId24"/>
    <p:sldId id="280" r:id="rId25"/>
    <p:sldId id="281" r:id="rId26"/>
    <p:sldId id="282" r:id="rId27"/>
    <p:sldId id="283" r:id="rId28"/>
    <p:sldId id="297" r:id="rId29"/>
    <p:sldId id="284" r:id="rId30"/>
    <p:sldId id="285" r:id="rId31"/>
    <p:sldId id="286" r:id="rId32"/>
    <p:sldId id="296" r:id="rId33"/>
    <p:sldId id="295" r:id="rId34"/>
    <p:sldId id="294" r:id="rId35"/>
    <p:sldId id="293" r:id="rId36"/>
    <p:sldId id="292" r:id="rId37"/>
    <p:sldId id="291" r:id="rId38"/>
    <p:sldId id="290" r:id="rId39"/>
    <p:sldId id="289" r:id="rId40"/>
    <p:sldId id="288" r:id="rId41"/>
    <p:sldId id="287" r:id="rId42"/>
    <p:sldId id="298" r:id="rId43"/>
    <p:sldId id="299" r:id="rId44"/>
    <p:sldId id="300" r:id="rId45"/>
    <p:sldId id="303" r:id="rId46"/>
    <p:sldId id="302" r:id="rId47"/>
    <p:sldId id="301" r:id="rId48"/>
    <p:sldId id="304" r:id="rId49"/>
    <p:sldId id="305" r:id="rId50"/>
    <p:sldId id="306" r:id="rId51"/>
    <p:sldId id="307" r:id="rId52"/>
    <p:sldId id="313" r:id="rId53"/>
    <p:sldId id="308" r:id="rId54"/>
    <p:sldId id="312" r:id="rId55"/>
    <p:sldId id="309" r:id="rId56"/>
    <p:sldId id="311" r:id="rId57"/>
    <p:sldId id="310" r:id="rId58"/>
    <p:sldId id="314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6D14DC-4D31-4D69-9884-A3166EB9E843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9E3A6-079A-479C-A6A4-C11D316B0C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707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9E3A6-079A-479C-A6A4-C11D316B0C3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795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9E3A6-079A-479C-A6A4-C11D316B0C3D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89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0C1C2-CA38-566E-80B6-2A3D4B18D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634FA1-FB6E-A6B3-8058-937AF58F9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27C80-A5CB-02BE-0FDF-85A14A69C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A0BA-A6D7-44C6-A8D6-E83C050F1536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2D2FD-B7E6-3538-D916-48715B38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74E37-4799-4DBA-29F4-99B848789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13EA2-1EB4-454A-A878-E501D6173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905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4D58-3A41-04ED-5831-D34C50F66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74075-FC30-C89E-224A-B7E6F1CD4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7FA5E-22C9-870D-ADF1-C68C88F1E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A0BA-A6D7-44C6-A8D6-E83C050F1536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9BECE-F6A1-0ADC-CD84-BD0E3AD2B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536FA-6E1D-0A21-8C91-071E36737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13EA2-1EB4-454A-A878-E501D6173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76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17B30-D54B-7FF5-69FE-FF393A810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4C03C-FF7C-5DF9-2A9B-3E7AEEFB3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D42FE-DEAD-9097-1CBC-96BAA24BD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A0BA-A6D7-44C6-A8D6-E83C050F1536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31EF8-B0FA-841F-E94D-E2867E7A2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5F110-E176-5C7D-0DBA-23D6A4CD7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13EA2-1EB4-454A-A878-E501D6173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67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DDB0-4972-9833-CDE3-7C7834980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DB49-638A-402B-13E0-08291C0AA7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FEDEF4-0A17-5F19-8779-A28E6EA1B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BA195-D696-883A-94A0-3785A692C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A0BA-A6D7-44C6-A8D6-E83C050F1536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67D92-D325-7CA3-32FF-ED0C2471C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6FDE7-B4FA-9AC2-BAED-99C5C3E86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13EA2-1EB4-454A-A878-E501D6173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470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4BF25-392A-8AA9-BD66-141A26613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FD21B-B66A-1D59-E12D-3B47AA923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F772C-6BAA-3750-75A1-5AB32E41D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0CA467-182C-FD25-A50F-7B9D0E3F1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192089-69CA-169E-E595-11714213B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A61B0-E7E6-C85C-97F2-8EBDB6D18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A0BA-A6D7-44C6-A8D6-E83C050F1536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BBB701-9F73-E090-D8DF-D8CB20425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D8275C-C5A8-14C2-7D93-34084F1B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13EA2-1EB4-454A-A878-E501D6173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677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B7379-7639-12EF-6278-72D1CE13D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26D4DF-2B90-974A-8A0B-A068D210C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A0BA-A6D7-44C6-A8D6-E83C050F1536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8BB3C6-9B2E-AA43-37D5-AE876F30A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C09FF-257D-9B0C-6E5C-142C78A7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13EA2-1EB4-454A-A878-E501D6173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294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4A4D6A-1038-C8D5-ECDB-CDFC31D2A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A0BA-A6D7-44C6-A8D6-E83C050F1536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379181-6907-E6D9-122C-5265B7422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6478F-09E4-DA9B-DCC1-E6B55A93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13EA2-1EB4-454A-A878-E501D6173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951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7380-4F14-C586-0D63-909861598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0BFD8-B019-1E75-0D18-838255A56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2FFC3-B970-09BC-CFAA-01D275148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34A8A-195F-B359-8E80-BBB5FCEE7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A0BA-A6D7-44C6-A8D6-E83C050F1536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DC55D-6027-03EC-A32C-FCA857F1D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D72A5-7E1F-38C0-BD24-24127D23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13EA2-1EB4-454A-A878-E501D6173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133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47777-ECF3-898B-B6DE-F4988C83F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CF4D26-FB08-22D0-A266-A8F83498069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99F1B3-6B5B-1F6F-74CD-846205ADD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277BE-24C3-677D-DC77-7270B2E35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A0BA-A6D7-44C6-A8D6-E83C050F1536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007A3-91E0-04D9-7C97-E6DD846C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842FB-369A-F5C3-C62F-7E2EE59E2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13EA2-1EB4-454A-A878-E501D6173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657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1D7EE-252E-2034-09AD-96B83AA76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A77A6-2FC0-01AD-D96E-207605090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F2F2A-7AFD-B535-E638-1AAD9D8BB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A0BA-A6D7-44C6-A8D6-E83C050F1536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234BE-8C29-208A-6509-EBE9C2FA2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3D1FF-3EC9-9010-A861-3A81231F9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13EA2-1EB4-454A-A878-E501D6173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885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691FEC-F30C-ED2A-678D-3B676C03BD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8B012-B1B7-C7F2-D96E-B996BF5D3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186DB-865D-B172-0295-42685A827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A0BA-A6D7-44C6-A8D6-E83C050F1536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07E4A-5D64-611B-0095-EDF9298B6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575FD-6D52-04B4-5993-552D06B9F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13EA2-1EB4-454A-A878-E501D6173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797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2FD16A-A1F1-E8D8-FA84-37A32B196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B4404-3760-1895-CF9A-B93A7F906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59A6-D432-AC5F-522C-55B617C24E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BBA0BA-A6D7-44C6-A8D6-E83C050F1536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AD341-DB96-9B1C-AEBB-DD6B52A8D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485BB-2D91-EAEC-752C-E77637943D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13EA2-1EB4-454A-A878-E501D6173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465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6E9F51-F221-44D0-0A1D-E138BA3826DD}"/>
              </a:ext>
            </a:extLst>
          </p:cNvPr>
          <p:cNvSpPr txBox="1"/>
          <p:nvPr/>
        </p:nvSpPr>
        <p:spPr>
          <a:xfrm>
            <a:off x="2910078" y="48284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GS-SLAM: Dense Visual SLAM with 3D Gaussian Splatting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7E599-B41C-B0C4-E9A3-2B8D1A461918}"/>
              </a:ext>
            </a:extLst>
          </p:cNvPr>
          <p:cNvSpPr txBox="1"/>
          <p:nvPr/>
        </p:nvSpPr>
        <p:spPr>
          <a:xfrm>
            <a:off x="1181862" y="1130891"/>
            <a:ext cx="77884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STAGE 1: Voxel-Based SLAM (Foundation) Scene Representation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2F7361-8CD5-4A01-2384-F5C61A83B284}"/>
              </a:ext>
            </a:extLst>
          </p:cNvPr>
          <p:cNvSpPr txBox="1"/>
          <p:nvPr/>
        </p:nvSpPr>
        <p:spPr>
          <a:xfrm>
            <a:off x="1181862" y="1751184"/>
            <a:ext cx="891311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Frame 1: The camera estimates a TSDF value of (0.8) for a voxel.</a:t>
            </a:r>
          </a:p>
          <a:p>
            <a:r>
              <a:rPr lang="en-US" dirty="0"/>
              <a:t>Frame 2: The camera moves slightly and estimates (0.6) for the same voxel.</a:t>
            </a:r>
          </a:p>
          <a:p>
            <a:r>
              <a:rPr lang="en-US" dirty="0"/>
              <a:t>Frame 3: Another observation estimates (0.7).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measurements differ slightly because of sensor noise, camera movement, and measurement uncertainty.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TSDF fusion combines them rather than replacing the old value each time.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formula </a:t>
            </a:r>
          </a:p>
          <a:p>
            <a:br>
              <a:rPr lang="en-US" dirty="0"/>
            </a:b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9DC53D-0869-FAA1-A070-E43B0561D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932" y="5028021"/>
            <a:ext cx="2200582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898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AFDB42-02E7-4112-1A15-B6F51D03FAB9}"/>
              </a:ext>
            </a:extLst>
          </p:cNvPr>
          <p:cNvSpPr txBox="1"/>
          <p:nvPr/>
        </p:nvSpPr>
        <p:spPr>
          <a:xfrm>
            <a:off x="818147" y="2197769"/>
            <a:ext cx="10266948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This is how the pieces of Voxel SLAM reconstruction pipeline: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The depth camera captures a new frame.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ICP estimates the camera pose relative to the existing map or previous frame.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The system uses that pose to transform the new depth measurements into the map's coordinate system.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TSDF fusion combines those measurements with existing voxel values.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Marching Cubes extracts a surface mesh from the fused TSDF volume.</a:t>
            </a:r>
          </a:p>
        </p:txBody>
      </p:sp>
    </p:spTree>
    <p:extLst>
      <p:ext uri="{BB962C8B-B14F-4D97-AF65-F5344CB8AC3E}">
        <p14:creationId xmlns:p14="http://schemas.microsoft.com/office/powerpoint/2010/main" val="1060749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98D2C6-CF9F-77EC-E1C9-F0FD50AD595F}"/>
              </a:ext>
            </a:extLst>
          </p:cNvPr>
          <p:cNvSpPr txBox="1"/>
          <p:nvPr/>
        </p:nvSpPr>
        <p:spPr>
          <a:xfrm>
            <a:off x="285750" y="260711"/>
            <a:ext cx="116288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ICP (Iterative Closest Point) is an algorithm that helps a robot estimate how its camera moved between two frames by aligning 3D points from the two frames.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9D94E-F6E6-EF53-1276-17E823BE35E3}"/>
              </a:ext>
            </a:extLst>
          </p:cNvPr>
          <p:cNvSpPr txBox="1"/>
          <p:nvPr/>
        </p:nvSpPr>
        <p:spPr>
          <a:xfrm>
            <a:off x="377190" y="1414195"/>
            <a:ext cx="79804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Frame 1: the camera sees a set of 3D points on the wall.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Frame 2: the camera moves slightly and sees the same wall from a different position. The two point clouds won't line up automatically because the camera moved.</a:t>
            </a:r>
            <a:endParaRPr lang="en-IN" sz="1200" b="0" i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C4AC80-BC52-2E7E-2261-A67396232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880" y="2878591"/>
            <a:ext cx="2553056" cy="771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26C768-7AA7-D9BF-C07A-6AC81303C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90" y="3914290"/>
            <a:ext cx="9927045" cy="247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383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6474CB-9146-132B-618C-889DB0E98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0725" y="259372"/>
            <a:ext cx="2833730" cy="8375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D5392A-68C1-1DD6-61C4-B6BC9EBFFADD}"/>
              </a:ext>
            </a:extLst>
          </p:cNvPr>
          <p:cNvSpPr txBox="1"/>
          <p:nvPr/>
        </p:nvSpPr>
        <p:spPr>
          <a:xfrm>
            <a:off x="870966" y="259372"/>
            <a:ext cx="84559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First-order approximation of a rigid transformation near the identity.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When the current estimate is not the identity, this approximation is applied to a small incremental transformation and composed with the current estimate.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CA0267-90BF-18F0-BCA5-39BAEC28A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7065" y="1386762"/>
            <a:ext cx="5240525" cy="6463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83126A-9FDC-091A-FF2F-3D412213B789}"/>
              </a:ext>
            </a:extLst>
          </p:cNvPr>
          <p:cNvSpPr txBox="1"/>
          <p:nvPr/>
        </p:nvSpPr>
        <p:spPr>
          <a:xfrm>
            <a:off x="625642" y="1386762"/>
            <a:ext cx="48447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Define the six unknowns. Combine rotation and translation into a six-dimensional vector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A2F4B3-6165-AB9A-4AF1-78B583EABE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734" y="2237152"/>
            <a:ext cx="3506014" cy="8589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EB22B4-D922-8F22-826B-4A93FCC300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336" y="3300184"/>
            <a:ext cx="6599419" cy="8589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18E843-9D5B-21B2-401F-335156F663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4414" y="2388595"/>
            <a:ext cx="4240041" cy="85897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F820DE4-2C33-D566-725C-F627A2BAB195}"/>
              </a:ext>
            </a:extLst>
          </p:cNvPr>
          <p:cNvSpPr txBox="1"/>
          <p:nvPr/>
        </p:nvSpPr>
        <p:spPr>
          <a:xfrm>
            <a:off x="7764414" y="30961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cross-product identity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6CB382A-A9A4-F5D4-AF32-C77C2A56D4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641" y="4220321"/>
            <a:ext cx="6398665" cy="6463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706F1DC-D9B4-9A31-2494-7B8CD36BA0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641" y="5075895"/>
            <a:ext cx="6256050" cy="15227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FC0A560-B235-BA27-A28B-F063D9966B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0341" y="5312995"/>
            <a:ext cx="4330046" cy="104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923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520BA1-28A9-EAC6-54CD-2FB3AE8B3FFD}"/>
              </a:ext>
            </a:extLst>
          </p:cNvPr>
          <p:cNvSpPr txBox="1"/>
          <p:nvPr/>
        </p:nvSpPr>
        <p:spPr>
          <a:xfrm>
            <a:off x="258318" y="352151"/>
            <a:ext cx="11592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Marching Cubes converts the TSDF volume into a 3D surface mesh that a robot can visualize or use for planning.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39C3B-32F4-7078-E7AB-0571A758811C}"/>
              </a:ext>
            </a:extLst>
          </p:cNvPr>
          <p:cNvSpPr txBox="1"/>
          <p:nvPr/>
        </p:nvSpPr>
        <p:spPr>
          <a:xfrm>
            <a:off x="258318" y="943600"/>
            <a:ext cx="454228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Marching Cubes processes the 3D voxel grid one cube at a time.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Take one cube: Each cube has eight corner voxels.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Check their TSDF values: Determine which corners are negative and which are positive.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Find zero-crossings: Interpolate along cube edges whose endpoints have opposite signs.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Create triangles: Connect the crossing points to approximate the surface inside that cube.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Repeat: Process the entire volume and join the resulting triangles into a mesh. The result is a triangular surface mesh rather than just a collection of voxel values.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BE3371-7269-5E94-8614-803887961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350" y="1444561"/>
            <a:ext cx="7534650" cy="35572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90D2CC-CB03-A40E-C0CE-1BC3E5891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141" y="5413439"/>
            <a:ext cx="3067478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163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44ED21-1A61-490B-4DA7-C78851195C88}"/>
              </a:ext>
            </a:extLst>
          </p:cNvPr>
          <p:cNvSpPr txBox="1"/>
          <p:nvPr/>
        </p:nvSpPr>
        <p:spPr>
          <a:xfrm>
            <a:off x="2887579" y="527897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 err="1"/>
              <a:t>iMAP</a:t>
            </a:r>
            <a:r>
              <a:rPr lang="en-US" sz="4000" dirty="0"/>
              <a:t> — replacing voxels with a neural network</a:t>
            </a:r>
            <a:endParaRPr lang="en-IN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F4B7C-4F93-ECD3-0DBF-7EDFA33EF0AC}"/>
              </a:ext>
            </a:extLst>
          </p:cNvPr>
          <p:cNvSpPr txBox="1"/>
          <p:nvPr/>
        </p:nvSpPr>
        <p:spPr>
          <a:xfrm>
            <a:off x="705853" y="2325889"/>
            <a:ext cx="104113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iMAP</a:t>
            </a:r>
            <a:r>
              <a:rPr lang="en-US" dirty="0"/>
              <a:t> neural map The scene is encoded in the learned parameters of a neural network. Querying the network at a 3D position estimates properties of the scene there.</a:t>
            </a:r>
          </a:p>
          <a:p>
            <a:endParaRPr lang="en-US" dirty="0"/>
          </a:p>
          <a:p>
            <a:r>
              <a:rPr lang="en-US" dirty="0"/>
              <a:t>The neural network is written as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F0AC82-2D13-AEF6-4CB3-FE1130C7E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817" y="2878391"/>
            <a:ext cx="3893658" cy="9131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7597CC-151E-3344-157C-107E01E25D32}"/>
              </a:ext>
            </a:extLst>
          </p:cNvPr>
          <p:cNvSpPr txBox="1"/>
          <p:nvPr/>
        </p:nvSpPr>
        <p:spPr>
          <a:xfrm>
            <a:off x="4427621" y="401150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σ  : </a:t>
            </a:r>
            <a:r>
              <a:rPr lang="en-IN" dirty="0"/>
              <a:t>volume density,</a:t>
            </a:r>
          </a:p>
          <a:p>
            <a:r>
              <a:rPr lang="en-IN" dirty="0"/>
              <a:t>C – Pixel </a:t>
            </a:r>
            <a:r>
              <a:rPr lang="en-IN" dirty="0" err="1"/>
              <a:t>colors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E65629-E26D-A3FD-EA0F-CA5237D14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53" y="5065794"/>
            <a:ext cx="9979261" cy="141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96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24B7B1-D0B7-5AC5-5BA9-5E1D5B154B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1940"/>
          <a:stretch>
            <a:fillRect/>
          </a:stretch>
        </p:blipFill>
        <p:spPr>
          <a:xfrm>
            <a:off x="730853" y="2531608"/>
            <a:ext cx="11204473" cy="22008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F4DE14-A87E-18A3-BB33-2907F344ACA3}"/>
              </a:ext>
            </a:extLst>
          </p:cNvPr>
          <p:cNvSpPr txBox="1"/>
          <p:nvPr/>
        </p:nvSpPr>
        <p:spPr>
          <a:xfrm>
            <a:off x="730853" y="1650013"/>
            <a:ext cx="10161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Positional encoding helps by giving it sinusoidal features at multiple spatial frequencies.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037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E436BF-386B-0ABC-2F4E-86478E87ED35}"/>
              </a:ext>
            </a:extLst>
          </p:cNvPr>
          <p:cNvSpPr txBox="1"/>
          <p:nvPr/>
        </p:nvSpPr>
        <p:spPr>
          <a:xfrm>
            <a:off x="497305" y="545432"/>
            <a:ext cx="1031507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Volume rendering: </a:t>
            </a:r>
          </a:p>
          <a:p>
            <a:r>
              <a:rPr lang="en-US" sz="3000" dirty="0"/>
              <a:t>	The network predicts color and density at a 3D point, but a camera pixel represents everything visible along a ray through the scene. </a:t>
            </a:r>
          </a:p>
          <a:p>
            <a:endParaRPr lang="en-US" sz="3000" dirty="0"/>
          </a:p>
          <a:p>
            <a:r>
              <a:rPr lang="en-US" sz="3000" dirty="0"/>
              <a:t>To predict one pixel, we cast a ray:  </a:t>
            </a:r>
          </a:p>
          <a:p>
            <a:r>
              <a:rPr lang="en-US" sz="3000" dirty="0"/>
              <a:t>where:</a:t>
            </a:r>
          </a:p>
          <a:p>
            <a:r>
              <a:rPr lang="en-US" sz="3000" dirty="0"/>
              <a:t>o : camera origin.</a:t>
            </a:r>
          </a:p>
          <a:p>
            <a:r>
              <a:rPr lang="en-US" sz="3000" dirty="0"/>
              <a:t>d : ray direction through the pixel.</a:t>
            </a:r>
          </a:p>
          <a:p>
            <a:r>
              <a:rPr lang="en-US" sz="3000" dirty="0"/>
              <a:t>t : distance parameter along the ray.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C98218-0784-35D3-2EDA-56A3E4124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477" y="2562462"/>
            <a:ext cx="2790255" cy="86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226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FBC777-0029-C054-2E56-E30BDDEE8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77" y="888467"/>
            <a:ext cx="11140646" cy="24001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E25F72-E0B1-49D8-17FD-A5DE304C8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565" y="3569370"/>
            <a:ext cx="4332302" cy="2745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A71B49-DB86-5ABE-8EA6-841C13C73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5419" y="3646046"/>
            <a:ext cx="3494663" cy="14668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64167F-0E60-F3A7-76DC-A5DE322157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5748" y="5470357"/>
            <a:ext cx="3014334" cy="77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67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FA5398-56FA-74FB-7E69-B9E516536019}"/>
              </a:ext>
            </a:extLst>
          </p:cNvPr>
          <p:cNvSpPr txBox="1"/>
          <p:nvPr/>
        </p:nvSpPr>
        <p:spPr>
          <a:xfrm>
            <a:off x="1868905" y="1204128"/>
            <a:ext cx="8454189" cy="444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dirty="0"/>
              <a:t>The complete </a:t>
            </a:r>
            <a:r>
              <a:rPr lang="en-IN" dirty="0" err="1"/>
              <a:t>iMAP</a:t>
            </a:r>
            <a:r>
              <a:rPr lang="en-IN" dirty="0"/>
              <a:t> pipeline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Capture RGB-D frame Obtain </a:t>
            </a:r>
            <a:r>
              <a:rPr lang="en-IN" dirty="0" err="1"/>
              <a:t>color</a:t>
            </a:r>
            <a:r>
              <a:rPr lang="en-IN" dirty="0"/>
              <a:t> and depth measurements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Sample camera rays Generate 3D sample positions along selected pixel rays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Query the MLP Predict </a:t>
            </a:r>
            <a:r>
              <a:rPr lang="en-IN" dirty="0" err="1"/>
              <a:t>color</a:t>
            </a:r>
            <a:r>
              <a:rPr lang="en-IN" dirty="0"/>
              <a:t> and density at sampled positions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Render </a:t>
            </a:r>
            <a:r>
              <a:rPr lang="en-IN" dirty="0" err="1"/>
              <a:t>color</a:t>
            </a:r>
            <a:r>
              <a:rPr lang="en-IN" dirty="0"/>
              <a:t> and depth Combine predictions using volume-rendering weights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Compute loss Compare rendered results with observed RGB-D data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Update scene and camera pose Optimize neural parameters and pose, then process the next frame</a:t>
            </a:r>
          </a:p>
        </p:txBody>
      </p:sp>
    </p:spTree>
    <p:extLst>
      <p:ext uri="{BB962C8B-B14F-4D97-AF65-F5344CB8AC3E}">
        <p14:creationId xmlns:p14="http://schemas.microsoft.com/office/powerpoint/2010/main" val="2455024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3D3823-86F4-2E63-C16A-95CB041E3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574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99B1B7-6C40-3605-3B20-D5A4AD7BE0CD}"/>
              </a:ext>
            </a:extLst>
          </p:cNvPr>
          <p:cNvSpPr txBox="1"/>
          <p:nvPr/>
        </p:nvSpPr>
        <p:spPr>
          <a:xfrm>
            <a:off x="705852" y="617438"/>
            <a:ext cx="1090863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/>
              <a:t>NICE-SLAM:  Stores learned features in multi-resolution grids, with neural decoders that turn those features into scene properties.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B430AD-8077-4CC2-0E32-89CF52CDE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76" y="2112386"/>
            <a:ext cx="10807508" cy="313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0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C0BF6F-7BE2-1304-EB4F-9C1C28F02072}"/>
              </a:ext>
            </a:extLst>
          </p:cNvPr>
          <p:cNvSpPr txBox="1"/>
          <p:nvPr/>
        </p:nvSpPr>
        <p:spPr>
          <a:xfrm>
            <a:off x="112014" y="326059"/>
            <a:ext cx="10421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The feature at the sample position is interpolated from the eight corners: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A03908-87B9-C047-7C19-CBA63FFA7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568" y="255468"/>
            <a:ext cx="3543281" cy="7803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EBBA32-CCE8-06A7-A3DF-F93E58BA1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05" y="1145756"/>
            <a:ext cx="7362654" cy="16888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8FD5C4-8F57-CC7A-843F-F4E534E4A1CC}"/>
              </a:ext>
            </a:extLst>
          </p:cNvPr>
          <p:cNvSpPr txBox="1"/>
          <p:nvPr/>
        </p:nvSpPr>
        <p:spPr>
          <a:xfrm>
            <a:off x="349504" y="3105835"/>
            <a:ext cx="77246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After interpolation, each grid gives a feature vector at the queried position: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FF7A8-9434-BAFB-707B-E4E2C811C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1" y="2945506"/>
            <a:ext cx="3308932" cy="6058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0702EF-4AD9-6D92-C688-55BF26443038}"/>
              </a:ext>
            </a:extLst>
          </p:cNvPr>
          <p:cNvSpPr txBox="1"/>
          <p:nvPr/>
        </p:nvSpPr>
        <p:spPr>
          <a:xfrm>
            <a:off x="349504" y="3976118"/>
            <a:ext cx="7511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are combined and passed to a small decoder network: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7902F7E-E886-66E6-954B-B876D479B5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5202" y="3822562"/>
            <a:ext cx="5466798" cy="6582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A38ECAA-7396-311F-0259-DE01D9C51C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717" y="4623806"/>
            <a:ext cx="9436491" cy="167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51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174E63-35C1-61AD-EFD0-2048F0A54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77" y="1399523"/>
            <a:ext cx="11138646" cy="370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99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25F4DF-B93E-EC72-8F7D-7AB40128F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512" y="908099"/>
            <a:ext cx="10339685" cy="12094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F84BDE-73A5-94B4-1FE3-62E49FF92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06" y="2535016"/>
            <a:ext cx="11687787" cy="229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333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031965-692E-7ABE-F2F7-F2D8FA71D806}"/>
              </a:ext>
            </a:extLst>
          </p:cNvPr>
          <p:cNvSpPr txBox="1"/>
          <p:nvPr/>
        </p:nvSpPr>
        <p:spPr>
          <a:xfrm>
            <a:off x="1556083" y="650483"/>
            <a:ext cx="8261684" cy="5557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200000"/>
              </a:lnSpc>
              <a:buNone/>
            </a:pPr>
            <a:r>
              <a:rPr lang="en-IN" sz="1800" b="1" i="0" dirty="0">
                <a:solidFill>
                  <a:srgbClr val="FF0000"/>
                </a:solidFill>
                <a:effectLst/>
                <a:latin typeface="+mn-lt"/>
              </a:rPr>
              <a:t>Why is NICE-SLAM still slow? 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NICE-SLAM improves the scene representation, but it still has to perform substantial computation.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Three grid lookups Each queried 3D position may require interpolation at coarse, medium, and fine resolutions.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Ray marching A pixel still requires sampling multiple positions along its camera ray. If there are 32 samples, the scene must be queried at those 32 locations.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Neural decoding and optimization Feature interpolation, decoder evaluations, rendering, and gradient updates all consume computation.</a:t>
            </a:r>
            <a:endParaRPr lang="en-IN" sz="1200" b="0" i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934811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A43D013-4FBD-A225-D46A-CFEB5E7A755A}"/>
              </a:ext>
            </a:extLst>
          </p:cNvPr>
          <p:cNvGrpSpPr/>
          <p:nvPr/>
        </p:nvGrpSpPr>
        <p:grpSpPr>
          <a:xfrm>
            <a:off x="946485" y="588093"/>
            <a:ext cx="9667003" cy="1360750"/>
            <a:chOff x="1604211" y="1951672"/>
            <a:chExt cx="9667003" cy="136075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629F9CC-DB38-AB47-0106-92A82EFCD215}"/>
                </a:ext>
              </a:extLst>
            </p:cNvPr>
            <p:cNvSpPr txBox="1"/>
            <p:nvPr/>
          </p:nvSpPr>
          <p:spPr>
            <a:xfrm>
              <a:off x="1604211" y="1951672"/>
              <a:ext cx="8582526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ESLAM: stores learnable features in multi-scale 2D planes and combines them to represent 3D geometry.</a:t>
              </a:r>
            </a:p>
            <a:p>
              <a:endParaRPr lang="en-US" dirty="0"/>
            </a:p>
            <a:p>
              <a:r>
                <a:rPr lang="en-US" dirty="0"/>
                <a:t>Now imagine three 2D planes, each containing n x n locations: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467A9A1-E7BC-EE55-6DAA-D09AA28898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01394" y="2676162"/>
              <a:ext cx="3369820" cy="636260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B656CE4-438E-FF97-59C2-F596ED766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05" y="2235045"/>
            <a:ext cx="10978579" cy="40348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A5FC0A-5DEB-6A42-998F-AD8B6BB57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85" y="2706836"/>
            <a:ext cx="3953662" cy="37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57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CBD7AA-7CE2-D9FA-C61D-4B3F79763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76" y="1649472"/>
            <a:ext cx="10986648" cy="355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48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B9D0A3-E1C7-93D2-4B4F-6CFEF3AA2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35" y="1677230"/>
            <a:ext cx="11323623" cy="313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023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058E37-870E-1E89-8363-5DB6E6043F3C}"/>
              </a:ext>
            </a:extLst>
          </p:cNvPr>
          <p:cNvSpPr txBox="1"/>
          <p:nvPr/>
        </p:nvSpPr>
        <p:spPr>
          <a:xfrm>
            <a:off x="368968" y="476253"/>
            <a:ext cx="106359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But E Slam  needs SDF to density : </a:t>
            </a:r>
          </a:p>
          <a:p>
            <a:endParaRPr lang="en-US" dirty="0"/>
          </a:p>
          <a:p>
            <a:r>
              <a:rPr lang="en-US" dirty="0"/>
              <a:t>Neural rendering needs a density value along each camera ray.</a:t>
            </a:r>
          </a:p>
          <a:p>
            <a:endParaRPr lang="en-US" dirty="0"/>
          </a:p>
          <a:p>
            <a:r>
              <a:rPr lang="en-US" dirty="0"/>
              <a:t>ESLAM can convert the SDF into density using the formula:</a:t>
            </a:r>
            <a:endParaRPr lang="en-IN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5DD5C80-D3FF-153F-EA80-BD54477FC57A}"/>
              </a:ext>
            </a:extLst>
          </p:cNvPr>
          <p:cNvGrpSpPr/>
          <p:nvPr/>
        </p:nvGrpSpPr>
        <p:grpSpPr>
          <a:xfrm>
            <a:off x="1090862" y="2742030"/>
            <a:ext cx="8296971" cy="2788032"/>
            <a:chOff x="368968" y="2116388"/>
            <a:chExt cx="8296971" cy="27880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DC563E1-A4C2-2CE4-BD8E-B3E6F0D8C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4552"/>
            <a:stretch>
              <a:fillRect/>
            </a:stretch>
          </p:blipFill>
          <p:spPr>
            <a:xfrm>
              <a:off x="368968" y="2331191"/>
              <a:ext cx="7122695" cy="257322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5229D81-2742-B127-A091-BC7CD2B97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347" b="12675"/>
            <a:stretch>
              <a:fillRect/>
            </a:stretch>
          </p:blipFill>
          <p:spPr>
            <a:xfrm>
              <a:off x="2935704" y="2116388"/>
              <a:ext cx="5730235" cy="22470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4966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F8F451-359C-259B-83B6-F2414B6D7B74}"/>
              </a:ext>
            </a:extLst>
          </p:cNvPr>
          <p:cNvSpPr txBox="1"/>
          <p:nvPr/>
        </p:nvSpPr>
        <p:spPr>
          <a:xfrm>
            <a:off x="2005264" y="1978331"/>
            <a:ext cx="6096000" cy="3341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3D query point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Project onto XY, XZ and YZ feature planes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Bilinear interpolation at multiple scales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Concatenate features and positional encoding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Neural decoder predicts SDF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Convert SDF to density and render camera 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560535-177E-DDF8-6024-BEFDA49D685F}"/>
              </a:ext>
            </a:extLst>
          </p:cNvPr>
          <p:cNvSpPr txBox="1"/>
          <p:nvPr/>
        </p:nvSpPr>
        <p:spPr>
          <a:xfrm>
            <a:off x="705852" y="15379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Complete Algorithm of E SLAM</a:t>
            </a:r>
          </a:p>
        </p:txBody>
      </p:sp>
    </p:spTree>
    <p:extLst>
      <p:ext uri="{BB962C8B-B14F-4D97-AF65-F5344CB8AC3E}">
        <p14:creationId xmlns:p14="http://schemas.microsoft.com/office/powerpoint/2010/main" val="2863264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679C77-5418-2210-13CF-2A748D7922BC}"/>
              </a:ext>
            </a:extLst>
          </p:cNvPr>
          <p:cNvSpPr txBox="1"/>
          <p:nvPr/>
        </p:nvSpPr>
        <p:spPr>
          <a:xfrm>
            <a:off x="1106905" y="181957"/>
            <a:ext cx="10395284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3D Gaussian Splatting (3DGS) — from neural fields to fast rendering</a:t>
            </a:r>
          </a:p>
          <a:p>
            <a:endParaRPr lang="en-US" sz="3200" dirty="0"/>
          </a:p>
          <a:p>
            <a:r>
              <a:rPr lang="en-US" sz="3200" dirty="0"/>
              <a:t>The big conceptual change is this: </a:t>
            </a:r>
            <a:r>
              <a:rPr lang="en-US" sz="3200" dirty="0" err="1"/>
              <a:t>iMAP</a:t>
            </a:r>
            <a:r>
              <a:rPr lang="en-US" sz="3200" dirty="0"/>
              <a:t>, NICE-SLAM and ESLAM query a scene representation at many points along camera rays.</a:t>
            </a:r>
          </a:p>
          <a:p>
            <a:endParaRPr lang="en-US" sz="3200" dirty="0"/>
          </a:p>
          <a:p>
            <a:r>
              <a:rPr lang="en-US" sz="3200" dirty="0"/>
              <a:t>3D Gaussian Splatting instead represents the scene as a collection of explicit, learnable 3D blobs and projects those blobs onto the image.</a:t>
            </a:r>
          </a:p>
          <a:p>
            <a:endParaRPr lang="en-US" sz="3200" dirty="0"/>
          </a:p>
          <a:p>
            <a:r>
              <a:rPr lang="en-US" sz="3200" dirty="0"/>
              <a:t>That changes how rendering works and makes highly efficient GPU rendering possible.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143190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E369C8-08FA-549A-EF4E-E77006806A06}"/>
              </a:ext>
            </a:extLst>
          </p:cNvPr>
          <p:cNvSpPr txBox="1"/>
          <p:nvPr/>
        </p:nvSpPr>
        <p:spPr>
          <a:xfrm>
            <a:off x="497304" y="612844"/>
            <a:ext cx="1079633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500" dirty="0"/>
              <a:t>The two rendering pipelines Neural field: ray marching Camera → many rays → many 3D sample points → query representation → combine samples</a:t>
            </a:r>
          </a:p>
          <a:p>
            <a:endParaRPr lang="en-IN" sz="4500" dirty="0"/>
          </a:p>
          <a:p>
            <a:r>
              <a:rPr lang="en-IN" sz="4500" dirty="0"/>
              <a:t>3DGS: splatting Stored 3D Gaussians → project to 2D → sort by depth → rasterize and blend</a:t>
            </a:r>
          </a:p>
        </p:txBody>
      </p:sp>
    </p:spTree>
    <p:extLst>
      <p:ext uri="{BB962C8B-B14F-4D97-AF65-F5344CB8AC3E}">
        <p14:creationId xmlns:p14="http://schemas.microsoft.com/office/powerpoint/2010/main" val="626642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CA9967-B82F-E0B7-0987-23A9720CF94C}"/>
              </a:ext>
            </a:extLst>
          </p:cNvPr>
          <p:cNvSpPr txBox="1"/>
          <p:nvPr/>
        </p:nvSpPr>
        <p:spPr>
          <a:xfrm>
            <a:off x="818147" y="1188491"/>
            <a:ext cx="1055570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Each Gaussian  k  is represented by:</a:t>
            </a:r>
          </a:p>
          <a:p>
            <a:r>
              <a:rPr lang="en-US" dirty="0"/>
              <a:t>		</a:t>
            </a:r>
            <a:r>
              <a:rPr lang="en-US" dirty="0" err="1"/>
              <a:t>Gk</a:t>
            </a:r>
            <a:r>
              <a:rPr lang="en-US" dirty="0"/>
              <a:t>={</a:t>
            </a:r>
            <a:r>
              <a:rPr lang="en-US" dirty="0" err="1"/>
              <a:t>μk,Σk,ok,ck</a:t>
            </a:r>
            <a:r>
              <a:rPr lang="en-US" dirty="0"/>
              <a:t>}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Center —  </a:t>
            </a:r>
            <a:r>
              <a:rPr lang="en-US" dirty="0" err="1"/>
              <a:t>μk</a:t>
            </a:r>
            <a:r>
              <a:rPr lang="en-US" dirty="0"/>
              <a:t>   </a:t>
            </a:r>
            <a:r>
              <a:rPr lang="en-US" dirty="0" err="1"/>
              <a:t>μk</a:t>
            </a:r>
            <a:r>
              <a:rPr lang="en-US" dirty="0"/>
              <a:t>=(</a:t>
            </a:r>
            <a:r>
              <a:rPr lang="en-US" dirty="0" err="1"/>
              <a:t>x,y,z</a:t>
            </a:r>
            <a:r>
              <a:rPr lang="en-US" dirty="0"/>
              <a:t>)  specifies where the Gaussian is located in the world.</a:t>
            </a:r>
          </a:p>
          <a:p>
            <a:endParaRPr lang="en-US" dirty="0"/>
          </a:p>
          <a:p>
            <a:r>
              <a:rPr lang="en-US" dirty="0"/>
              <a:t>Shape and orientation —  </a:t>
            </a:r>
            <a:r>
              <a:rPr lang="en-US" dirty="0" err="1"/>
              <a:t>Σk</a:t>
            </a:r>
            <a:r>
              <a:rPr lang="en-US" dirty="0"/>
              <a:t>  The covariance matrix controls how wide, narrow, and rotated the ellipsoid is.</a:t>
            </a:r>
          </a:p>
          <a:p>
            <a:endParaRPr lang="en-US" dirty="0"/>
          </a:p>
          <a:p>
            <a:r>
              <a:rPr lang="en-US" dirty="0"/>
              <a:t>Opacity —  ok  Controls how strongly the Gaussian contributes to the image. In your formulation, it lies between 0 and 1.</a:t>
            </a:r>
          </a:p>
          <a:p>
            <a:endParaRPr lang="en-US" dirty="0"/>
          </a:p>
          <a:p>
            <a:r>
              <a:rPr lang="en-US" dirty="0"/>
              <a:t>Color —  ck  The Gaussian has learned color parameters, often spherical-harmonic coefficients that let its apparent color vary with viewing direction.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6349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6F1BE9-E1AB-2697-8E76-C5B2975CB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714" y="369027"/>
            <a:ext cx="9345329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1400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F257BA-CA9A-904F-FFDE-6CEA1A369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62" y="3968778"/>
            <a:ext cx="8142338" cy="24961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10344A-EF34-D825-7786-3D461CDCEFA5}"/>
              </a:ext>
            </a:extLst>
          </p:cNvPr>
          <p:cNvSpPr txBox="1"/>
          <p:nvPr/>
        </p:nvSpPr>
        <p:spPr>
          <a:xfrm>
            <a:off x="465221" y="163164"/>
            <a:ext cx="1126155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spherical harmonics </a:t>
            </a:r>
            <a:r>
              <a:rPr lang="en-US" dirty="0"/>
              <a:t>as a collection of smooth patterns defined over directions in 3D.</a:t>
            </a:r>
          </a:p>
          <a:p>
            <a:endParaRPr lang="en-US" dirty="0"/>
          </a:p>
          <a:p>
            <a:r>
              <a:rPr lang="en-US" dirty="0"/>
              <a:t>A constant color can be represented by the lowest-order term.</a:t>
            </a:r>
          </a:p>
          <a:p>
            <a:endParaRPr lang="en-US" dirty="0"/>
          </a:p>
          <a:p>
            <a:r>
              <a:rPr lang="en-US" dirty="0"/>
              <a:t>Higher orders let the model represent more complicated directional changes, such as the appearance of highlights.</a:t>
            </a:r>
          </a:p>
          <a:p>
            <a:endParaRPr lang="en-US" dirty="0"/>
          </a:p>
          <a:p>
            <a:r>
              <a:rPr lang="en-US" dirty="0"/>
              <a:t>For example, a shiny object may look brighter from one angle than another.</a:t>
            </a:r>
          </a:p>
          <a:p>
            <a:endParaRPr lang="en-US" dirty="0"/>
          </a:p>
          <a:p>
            <a:r>
              <a:rPr lang="en-US" dirty="0"/>
              <a:t>View-dependent color gives 3DGS some ability to reproduce that effect without storing a completely separate color for every possible camera direction.</a:t>
            </a:r>
          </a:p>
          <a:p>
            <a:endParaRPr lang="en-US" dirty="0"/>
          </a:p>
          <a:p>
            <a:r>
              <a:rPr lang="en-US" dirty="0"/>
              <a:t>This is an approximation of appearance, not a complete physical simulation of light.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96334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D00760-B874-11A8-3C64-B18F75E15EB0}"/>
              </a:ext>
            </a:extLst>
          </p:cNvPr>
          <p:cNvSpPr txBox="1"/>
          <p:nvPr/>
        </p:nvSpPr>
        <p:spPr>
          <a:xfrm>
            <a:off x="3176337" y="232428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Projecting a 3D Gaussian into 2D</a:t>
            </a:r>
            <a:endParaRPr lang="en-IN"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A44A7-2BC8-3383-F664-BBA66944ED2E}"/>
              </a:ext>
            </a:extLst>
          </p:cNvPr>
          <p:cNvSpPr txBox="1"/>
          <p:nvPr/>
        </p:nvSpPr>
        <p:spPr>
          <a:xfrm>
            <a:off x="304800" y="1082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1: Transform the Gaussian into camera coordinates.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2C96D0-FD36-A339-2C74-700A5A679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86" y="1451991"/>
            <a:ext cx="8262467" cy="1287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1989F6-515F-4649-B3FE-C8EA5592C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04" y="3108797"/>
            <a:ext cx="8301949" cy="316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2541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990898-C46E-5F91-1802-11F6B8AD7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15" y="336884"/>
            <a:ext cx="8120312" cy="14598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F42F13-4300-41AA-AA31-B2A2DCC3DE8D}"/>
              </a:ext>
            </a:extLst>
          </p:cNvPr>
          <p:cNvSpPr txBox="1"/>
          <p:nvPr/>
        </p:nvSpPr>
        <p:spPr>
          <a:xfrm>
            <a:off x="272714" y="2243571"/>
            <a:ext cx="7411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3: Transform the covariance The projected covariance is: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41A2A4-FF07-1055-7369-B1BDFB934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365" y="2785266"/>
            <a:ext cx="3596224" cy="8940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FD010C-CA50-D927-24CC-17F324B92F30}"/>
              </a:ext>
            </a:extLst>
          </p:cNvPr>
          <p:cNvSpPr txBox="1"/>
          <p:nvPr/>
        </p:nvSpPr>
        <p:spPr>
          <a:xfrm>
            <a:off x="981575" y="3851718"/>
            <a:ext cx="7411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W  denote the camera's linear world-to-camera rotation component.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58B8B3-5902-BA7D-48E6-3C16FDC41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186" y="4393413"/>
            <a:ext cx="4439419" cy="167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05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6141C6-6E28-6742-369D-7F17FE369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74" y="389382"/>
            <a:ext cx="11463701" cy="607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4862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19FACB-C500-9033-1F64-7B476C8F08CC}"/>
              </a:ext>
            </a:extLst>
          </p:cNvPr>
          <p:cNvSpPr txBox="1"/>
          <p:nvPr/>
        </p:nvSpPr>
        <p:spPr>
          <a:xfrm>
            <a:off x="160421" y="293910"/>
            <a:ext cx="95129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Alpha blending — combining Gaussians into a pixel</a:t>
            </a:r>
          </a:p>
          <a:p>
            <a:endParaRPr lang="en-US" dirty="0"/>
          </a:p>
          <a:p>
            <a:r>
              <a:rPr lang="en-US" dirty="0"/>
              <a:t>A pixel may be covered by several Gaussians.</a:t>
            </a:r>
          </a:p>
          <a:p>
            <a:endParaRPr lang="en-US" dirty="0"/>
          </a:p>
          <a:p>
            <a:r>
              <a:rPr lang="en-US" dirty="0"/>
              <a:t>Their colors must be combined in depth order, from front to back.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56D2AD-0547-054C-D00D-1C7EE1FA2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518" y="393408"/>
            <a:ext cx="3104523" cy="12783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4B0363-DA3E-2516-63D7-D91F471A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9" y="2397758"/>
            <a:ext cx="8625078" cy="40668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820EF6-238F-E804-4A3B-D82A1A9594BA}"/>
              </a:ext>
            </a:extLst>
          </p:cNvPr>
          <p:cNvSpPr txBox="1"/>
          <p:nvPr/>
        </p:nvSpPr>
        <p:spPr>
          <a:xfrm>
            <a:off x="7395411" y="2087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transmittance before Gaussian  k  as: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60017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AB2612-0753-2C69-EFBD-E94BDD8FEE29}"/>
              </a:ext>
            </a:extLst>
          </p:cNvPr>
          <p:cNvSpPr txBox="1"/>
          <p:nvPr/>
        </p:nvSpPr>
        <p:spPr>
          <a:xfrm>
            <a:off x="737937" y="525975"/>
            <a:ext cx="101546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Tile-based rasterization — why divide the screen into tiles?</a:t>
            </a:r>
          </a:p>
          <a:p>
            <a:endParaRPr lang="en-US" dirty="0"/>
          </a:p>
          <a:p>
            <a:r>
              <a:rPr lang="en-US" dirty="0"/>
              <a:t>Rendering every Gaussian against every pixel would be wasteful.</a:t>
            </a:r>
          </a:p>
          <a:p>
            <a:endParaRPr lang="en-US" dirty="0"/>
          </a:p>
          <a:p>
            <a:r>
              <a:rPr lang="en-US" dirty="0"/>
              <a:t>Most Gaussians affect only a small part of the image.</a:t>
            </a:r>
          </a:p>
          <a:p>
            <a:endParaRPr lang="en-US" dirty="0"/>
          </a:p>
          <a:p>
            <a:r>
              <a:rPr lang="en-US" dirty="0"/>
              <a:t>3DGS therefore divides the screen into small tiles, commonly  16×16  pixels in the implementation.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A9C7F-E0D9-8F36-5BE9-022DE4D8BB91}"/>
              </a:ext>
            </a:extLst>
          </p:cNvPr>
          <p:cNvSpPr txBox="1"/>
          <p:nvPr/>
        </p:nvSpPr>
        <p:spPr>
          <a:xfrm>
            <a:off x="1347537" y="2837103"/>
            <a:ext cx="9224210" cy="3376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process is: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Project each Gaussian and estimate its 2D footprint.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Compute a bounding box around the footprint.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Find the tiles overlapped by that bounding box.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Generate entries associating Gaussians with those tiles.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Sort entries by tile and depth.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Process each tile's relevant Gaussians on the GPU, blending their contributions for each pixel.</a:t>
            </a:r>
          </a:p>
        </p:txBody>
      </p:sp>
    </p:spTree>
    <p:extLst>
      <p:ext uri="{BB962C8B-B14F-4D97-AF65-F5344CB8AC3E}">
        <p14:creationId xmlns:p14="http://schemas.microsoft.com/office/powerpoint/2010/main" val="395757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52C0EC-DD06-1B51-0CE8-AEEB3A026C12}"/>
              </a:ext>
            </a:extLst>
          </p:cNvPr>
          <p:cNvSpPr txBox="1"/>
          <p:nvPr/>
        </p:nvSpPr>
        <p:spPr>
          <a:xfrm>
            <a:off x="360947" y="197346"/>
            <a:ext cx="11470105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Tile-based rasterization — actual implementation in 3DGS</a:t>
            </a:r>
          </a:p>
          <a:p>
            <a:r>
              <a:rPr lang="en-US" dirty="0"/>
              <a:t>The original 3DGS implementation uses CUDA and NVIDIA's CUB library.</a:t>
            </a:r>
          </a:p>
          <a:p>
            <a:endParaRPr lang="en-US" dirty="0"/>
          </a:p>
          <a:p>
            <a:r>
              <a:rPr lang="en-US" dirty="0"/>
              <a:t>1. Project each Gaussian: Compute its 2D mean, covariance, and screen-space radius.</a:t>
            </a:r>
          </a:p>
          <a:p>
            <a:endParaRPr lang="en-US" dirty="0"/>
          </a:p>
          <a:p>
            <a:r>
              <a:rPr lang="en-US" dirty="0"/>
              <a:t>2. Calculate tile bounds: Use the projected radius and </a:t>
            </a:r>
            <a:r>
              <a:rPr lang="en-US" dirty="0" err="1"/>
              <a:t>getRect</a:t>
            </a:r>
            <a:r>
              <a:rPr lang="en-US" dirty="0"/>
              <a:t>() to find the rectangular range of overlapping tiles.</a:t>
            </a:r>
          </a:p>
          <a:p>
            <a:endParaRPr lang="en-US" dirty="0"/>
          </a:p>
          <a:p>
            <a:r>
              <a:rPr lang="en-US" dirty="0"/>
              <a:t>3. Count tile entries: Count how many tiles each Gaussian touches and use a prefix sum to allocate output positions.</a:t>
            </a:r>
          </a:p>
          <a:p>
            <a:endParaRPr lang="en-US" dirty="0"/>
          </a:p>
          <a:p>
            <a:r>
              <a:rPr lang="en-US" dirty="0"/>
              <a:t>4. Duplicate references: The </a:t>
            </a:r>
            <a:r>
              <a:rPr lang="en-US" dirty="0" err="1"/>
              <a:t>duplicateWithKeys</a:t>
            </a:r>
            <a:r>
              <a:rPr lang="en-US" dirty="0"/>
              <a:t> kernel creates one entry per overlapping tile, storing the tile ID, depth, and Gaussian index.</a:t>
            </a:r>
          </a:p>
          <a:p>
            <a:endParaRPr lang="en-US" dirty="0"/>
          </a:p>
          <a:p>
            <a:r>
              <a:rPr lang="en-US" dirty="0"/>
              <a:t>5. Sort entries: Use cub::</a:t>
            </a:r>
            <a:r>
              <a:rPr lang="en-US" dirty="0" err="1"/>
              <a:t>DeviceRadixSort</a:t>
            </a:r>
            <a:r>
              <a:rPr lang="en-US" dirty="0"/>
              <a:t>::</a:t>
            </a:r>
            <a:r>
              <a:rPr lang="en-US" dirty="0" err="1"/>
              <a:t>SortPairs</a:t>
            </a:r>
            <a:r>
              <a:rPr lang="en-US" dirty="0"/>
              <a:t>() to group entries by tile ID and order them by depth within each tile.</a:t>
            </a:r>
          </a:p>
          <a:p>
            <a:endParaRPr lang="en-US" dirty="0"/>
          </a:p>
          <a:p>
            <a:r>
              <a:rPr lang="en-US" dirty="0"/>
              <a:t>6. Identify tile ranges: The </a:t>
            </a:r>
            <a:r>
              <a:rPr lang="en-US" dirty="0" err="1"/>
              <a:t>identifyTileRanges</a:t>
            </a:r>
            <a:r>
              <a:rPr lang="en-US" dirty="0"/>
              <a:t> kernel records the start and end of each tile's entries in the sorted list.</a:t>
            </a:r>
          </a:p>
          <a:p>
            <a:endParaRPr lang="en-US" dirty="0"/>
          </a:p>
          <a:p>
            <a:r>
              <a:rPr lang="en-US" dirty="0"/>
              <a:t>7. Rasterize and blend: CUDA thread blocks process each tile's pixels, blending relevant Gaussians front to back using alpha compositing.</a:t>
            </a:r>
          </a:p>
          <a:p>
            <a:endParaRPr lang="en-US" dirty="0"/>
          </a:p>
          <a:p>
            <a:r>
              <a:rPr lang="en-US" dirty="0"/>
              <a:t>Actual implementation: rasterizer_impl.cu, with kernels such as </a:t>
            </a:r>
            <a:r>
              <a:rPr lang="en-US" dirty="0" err="1"/>
              <a:t>duplicateWithKeys</a:t>
            </a:r>
            <a:r>
              <a:rPr lang="en-US" dirty="0"/>
              <a:t> and </a:t>
            </a:r>
            <a:r>
              <a:rPr lang="en-US" dirty="0" err="1"/>
              <a:t>identifyTileRanges</a:t>
            </a:r>
            <a:r>
              <a:rPr lang="en-US" dirty="0"/>
              <a:t>, and CUB's radix sort and prefix-sum operations.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72806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0EB83F-26B8-518D-4596-B846FEB46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47" y="788100"/>
            <a:ext cx="10042105" cy="52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6264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A31C15-494D-7604-2ABF-9C215ABD4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35" y="341607"/>
            <a:ext cx="10911737" cy="594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5591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464116-3A79-F6FC-1E2F-7F6792FEF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69" y="1442930"/>
            <a:ext cx="11355061" cy="232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5636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675B26-DC55-2D61-D5B3-24D5EFF57EAA}"/>
              </a:ext>
            </a:extLst>
          </p:cNvPr>
          <p:cNvSpPr txBox="1"/>
          <p:nvPr/>
        </p:nvSpPr>
        <p:spPr>
          <a:xfrm>
            <a:off x="433137" y="1724849"/>
            <a:ext cx="10234863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Adaptive Gaussian management </a:t>
            </a:r>
            <a:r>
              <a:rPr lang="en-US" dirty="0"/>
              <a:t>— when should the map change?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A Gaussian map needs more than optimization of existing parameters. It must also decide when the current collection of Gaussians is insufficient.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Three operations: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Add: introduce Gaussians where the current map fails to explain observations.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Optimize: adjust existing positions, shapes, opacity, and colors.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Delete: remove Gaussians that are unhelpful or problematic. </a:t>
            </a:r>
          </a:p>
        </p:txBody>
      </p:sp>
    </p:spTree>
    <p:extLst>
      <p:ext uri="{BB962C8B-B14F-4D97-AF65-F5344CB8AC3E}">
        <p14:creationId xmlns:p14="http://schemas.microsoft.com/office/powerpoint/2010/main" val="7616940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AF4C5B-058E-294B-DFD9-F865CD10D67F}"/>
              </a:ext>
            </a:extLst>
          </p:cNvPr>
          <p:cNvSpPr txBox="1"/>
          <p:nvPr/>
        </p:nvSpPr>
        <p:spPr>
          <a:xfrm>
            <a:off x="401051" y="591234"/>
            <a:ext cx="88552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2.1 Adding a Gaussian using depth residuals The depth residual is: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CA1AE-1699-7575-E6E7-3B9FF110D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370" y="984635"/>
            <a:ext cx="3147462" cy="7868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937E43-7CEE-B364-E663-9A60C32828A6}"/>
              </a:ext>
            </a:extLst>
          </p:cNvPr>
          <p:cNvSpPr txBox="1"/>
          <p:nvPr/>
        </p:nvSpPr>
        <p:spPr>
          <a:xfrm>
            <a:off x="401051" y="1839623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this exceeds an addition threshold, the system may decide that the map needs additional geometry around this observation. The new Gaussian center can be initialized by back-projecting the pixel: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F07263-06DC-45B3-ECEB-3E1528109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2167" y="2554139"/>
            <a:ext cx="3447665" cy="7785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9F8A63-28B5-2B92-631E-0A08D388B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47" y="3429000"/>
            <a:ext cx="2461743" cy="25515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87915B-E183-6175-05B3-1868190E45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3788" y="3429000"/>
            <a:ext cx="5298962" cy="241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4929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68512C-0D2C-3D17-0DBC-36C8C04ECFC7}"/>
              </a:ext>
            </a:extLst>
          </p:cNvPr>
          <p:cNvSpPr txBox="1"/>
          <p:nvPr/>
        </p:nvSpPr>
        <p:spPr>
          <a:xfrm>
            <a:off x="625642" y="4891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2.2 Deleting poor Gaussians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48092D-07F3-DEC0-6DD1-8379B4F92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255" y="1045244"/>
            <a:ext cx="5902724" cy="5076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A50920-E099-2F6A-AA4C-E8ACB8BA5EB1}"/>
              </a:ext>
            </a:extLst>
          </p:cNvPr>
          <p:cNvSpPr txBox="1"/>
          <p:nvPr/>
        </p:nvSpPr>
        <p:spPr>
          <a:xfrm>
            <a:off x="1155033" y="1952715"/>
            <a:ext cx="96092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Low opacity: </a:t>
            </a:r>
            <a:r>
              <a:rPr lang="en-US" dirty="0"/>
              <a:t>the Gaussian contributes very little to the rendered image.</a:t>
            </a:r>
          </a:p>
          <a:p>
            <a:r>
              <a:rPr lang="en-US" dirty="0">
                <a:solidFill>
                  <a:srgbClr val="FF0000"/>
                </a:solidFill>
              </a:rPr>
              <a:t>Excessive size: </a:t>
            </a:r>
            <a:r>
              <a:rPr lang="en-US" dirty="0"/>
              <a:t>the Gaussian may have expanded too much or become an unhelpful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40178300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B5B2BC-4420-BB87-1DBF-5A5436A804E4}"/>
              </a:ext>
            </a:extLst>
          </p:cNvPr>
          <p:cNvSpPr txBox="1"/>
          <p:nvPr/>
        </p:nvSpPr>
        <p:spPr>
          <a:xfrm>
            <a:off x="320842" y="2965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Coarse-to-fine camera tracking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CD904-ECA0-F9A6-444F-9FAC8CFD0EAC}"/>
              </a:ext>
            </a:extLst>
          </p:cNvPr>
          <p:cNvSpPr txBox="1"/>
          <p:nvPr/>
        </p:nvSpPr>
        <p:spPr>
          <a:xfrm>
            <a:off x="320842" y="957517"/>
            <a:ext cx="88231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1 — Coarse tracking </a:t>
            </a:r>
            <a:r>
              <a:rPr lang="en-US" dirty="0" err="1"/>
              <a:t>Downsample</a:t>
            </a:r>
            <a:r>
              <a:rPr lang="en-US" dirty="0"/>
              <a:t> the image and use a selected subset of reliable Gaussians. Optimize an approximate camera pose cheaply.</a:t>
            </a:r>
          </a:p>
          <a:p>
            <a:endParaRPr lang="en-US" dirty="0"/>
          </a:p>
          <a:p>
            <a:r>
              <a:rPr lang="en-US" dirty="0"/>
              <a:t>Step 2 — Fine tracking Initialize from the coarse pose and refine it using full-resolution observations and a broader Gaussian set.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5DD632-B61C-671A-5F83-4CEA179E4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42" y="2627456"/>
            <a:ext cx="8309811" cy="371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0182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D84DFC-D49D-BF0B-2A79-1B20E1B2777C}"/>
              </a:ext>
            </a:extLst>
          </p:cNvPr>
          <p:cNvSpPr txBox="1"/>
          <p:nvPr/>
        </p:nvSpPr>
        <p:spPr>
          <a:xfrm>
            <a:off x="770021" y="2232319"/>
            <a:ext cx="10379242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/>
              <a:t>High opacity can be a useful heuristic because those Gaussians may have a strong influence on rendered pixels.</a:t>
            </a:r>
          </a:p>
          <a:p>
            <a:endParaRPr lang="en-US" sz="2500" dirty="0"/>
          </a:p>
          <a:p>
            <a:r>
              <a:rPr lang="en-US" sz="2500" dirty="0"/>
              <a:t>But opacity alone does not guarantee reliability: a high-opacity Gaussian could still be misplaced or represent a dynamic object.</a:t>
            </a:r>
          </a:p>
        </p:txBody>
      </p:sp>
    </p:spTree>
    <p:extLst>
      <p:ext uri="{BB962C8B-B14F-4D97-AF65-F5344CB8AC3E}">
        <p14:creationId xmlns:p14="http://schemas.microsoft.com/office/powerpoint/2010/main" val="21676361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D315A4-A33F-8833-57A4-582096D562D5}"/>
              </a:ext>
            </a:extLst>
          </p:cNvPr>
          <p:cNvSpPr txBox="1"/>
          <p:nvPr/>
        </p:nvSpPr>
        <p:spPr>
          <a:xfrm>
            <a:off x="737937" y="43081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Pose updates on the SE(3) manifold This connects directly to the pose optimization and Lie algebra concepts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A03803-EB88-6F73-F32D-61180E743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653" y="511421"/>
            <a:ext cx="2810809" cy="4851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401CC0-167A-B0DF-BFF1-89CEF9691D44}"/>
              </a:ext>
            </a:extLst>
          </p:cNvPr>
          <p:cNvSpPr txBox="1"/>
          <p:nvPr/>
        </p:nvSpPr>
        <p:spPr>
          <a:xfrm>
            <a:off x="737937" y="1715777"/>
            <a:ext cx="87108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exponential map converts a six-dimensional local motion increment into a valid rigid transformation.</a:t>
            </a:r>
          </a:p>
          <a:p>
            <a:endParaRPr lang="en-US" dirty="0"/>
          </a:p>
          <a:p>
            <a:r>
              <a:rPr lang="en-US" dirty="0"/>
              <a:t>Consequently, the updated rotation remains a proper rotation rather than an arbitrary matrix.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C8855F-D760-81DB-F4CC-26D6BE2B5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670" y="3216224"/>
            <a:ext cx="3889330" cy="12310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0719CA-1B3B-DC6E-C457-AE657C743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303" y="4181767"/>
            <a:ext cx="2678317" cy="12310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19C5AA-CDAF-FE3B-9E7B-5BA076B97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4637" y="3429000"/>
            <a:ext cx="5957462" cy="10337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88C06F2-20A8-BC36-6B9A-713E5CE29D99}"/>
              </a:ext>
            </a:extLst>
          </p:cNvPr>
          <p:cNvSpPr txBox="1"/>
          <p:nvPr/>
        </p:nvSpPr>
        <p:spPr>
          <a:xfrm>
            <a:off x="737937" y="4672861"/>
            <a:ext cx="81814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World-space center (\</a:t>
            </a:r>
            <a:r>
              <a:rPr lang="en-US" dirty="0" err="1"/>
              <a:t>mu_k</a:t>
            </a:r>
            <a:r>
              <a:rPr lang="en-US" dirty="0"/>
              <a:t>): the parameter we want to adjust.</a:t>
            </a:r>
          </a:p>
          <a:p>
            <a:r>
              <a:rPr lang="en-US" dirty="0"/>
              <a:t>Projection: moving the 3D center changes its 2D image center (\</a:t>
            </a:r>
            <a:r>
              <a:rPr lang="en-US" dirty="0" err="1"/>
              <a:t>mu_k</a:t>
            </a:r>
            <a:r>
              <a:rPr lang="en-US" dirty="0"/>
              <a:t>').</a:t>
            </a:r>
          </a:p>
          <a:p>
            <a:r>
              <a:rPr lang="en-US" dirty="0"/>
              <a:t>Gaussian evaluation: changing the 2D center changes its opacity contribution at affected pixels.</a:t>
            </a:r>
          </a:p>
          <a:p>
            <a:r>
              <a:rPr lang="en-US" dirty="0"/>
              <a:t>Alpha blending: changing that contribution changes the final rendered color.</a:t>
            </a:r>
          </a:p>
          <a:p>
            <a:r>
              <a:rPr lang="en-US" dirty="0"/>
              <a:t>Image loss: the rendered color change affects the reconstruction loss.</a:t>
            </a:r>
          </a:p>
        </p:txBody>
      </p:sp>
    </p:spTree>
    <p:extLst>
      <p:ext uri="{BB962C8B-B14F-4D97-AF65-F5344CB8AC3E}">
        <p14:creationId xmlns:p14="http://schemas.microsoft.com/office/powerpoint/2010/main" val="19451765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09822E-D37B-24C4-7219-E645F4011045}"/>
              </a:ext>
            </a:extLst>
          </p:cNvPr>
          <p:cNvSpPr txBox="1"/>
          <p:nvPr/>
        </p:nvSpPr>
        <p:spPr>
          <a:xfrm>
            <a:off x="433136" y="550493"/>
            <a:ext cx="10234863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3000" b="0" i="0" dirty="0">
                <a:solidFill>
                  <a:schemeClr val="tx1"/>
                </a:solidFill>
                <a:effectLst/>
                <a:latin typeface="+mn-lt"/>
              </a:rPr>
              <a:t>The complete learning loop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IN" sz="3000" b="0" i="0" dirty="0">
                <a:solidFill>
                  <a:schemeClr val="tx1"/>
                </a:solidFill>
                <a:effectLst/>
                <a:latin typeface="+mn-lt"/>
              </a:rPr>
              <a:t>Current Gaussian map + estimated camera pose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IN" sz="3000" b="0" i="0" dirty="0">
                <a:solidFill>
                  <a:schemeClr val="tx1"/>
                </a:solidFill>
                <a:effectLst/>
                <a:latin typeface="+mn-lt"/>
              </a:rPr>
              <a:t>Differentiable Gaussian rendering Predict RGB and depth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IN" sz="3000" b="0" i="0" dirty="0">
                <a:solidFill>
                  <a:schemeClr val="tx1"/>
                </a:solidFill>
                <a:effectLst/>
                <a:latin typeface="+mn-lt"/>
              </a:rPr>
              <a:t>Compute RGB, SSIM and depth losses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IN" sz="3000" b="0" i="0" dirty="0">
                <a:solidFill>
                  <a:schemeClr val="tx1"/>
                </a:solidFill>
                <a:effectLst/>
                <a:latin typeface="+mn-lt"/>
              </a:rPr>
              <a:t>Backpropagate gradients Estimate how parameters affect the loss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IN" sz="3000" b="0" i="0" dirty="0">
                <a:solidFill>
                  <a:schemeClr val="tx1"/>
                </a:solidFill>
                <a:effectLst/>
                <a:latin typeface="+mn-lt"/>
              </a:rPr>
              <a:t>Update pose and Gaussian parameters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IN" sz="3000" b="0" i="0" dirty="0">
                <a:solidFill>
                  <a:schemeClr val="tx1"/>
                </a:solidFill>
                <a:effectLst/>
                <a:latin typeface="+mn-lt"/>
              </a:rPr>
              <a:t>Manage map structure Add, refine or prune Gaussians when appropriate</a:t>
            </a:r>
          </a:p>
          <a:p>
            <a:pPr indent="0" algn="l">
              <a:buNone/>
            </a:pPr>
            <a:r>
              <a:rPr lang="en-IN" sz="3000" b="0" i="0" dirty="0">
                <a:solidFill>
                  <a:schemeClr val="tx1"/>
                </a:solidFill>
                <a:effectLst/>
                <a:latin typeface="+mn-lt"/>
              </a:rPr>
              <a:t>This is the essential idea: render → compare → differentiate → update. The map and camera pose are refined so that the predicted observations increasingly agree with the actual camera frames.</a:t>
            </a:r>
            <a:endParaRPr lang="en-IN" sz="3000" b="0" i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5254774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931120-0B2D-04AA-877B-023E2F758CFA}"/>
              </a:ext>
            </a:extLst>
          </p:cNvPr>
          <p:cNvSpPr txBox="1"/>
          <p:nvPr/>
        </p:nvSpPr>
        <p:spPr>
          <a:xfrm>
            <a:off x="657726" y="32868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Tracking and Bundle Adjustment, from the basics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FD155C-CE62-B7CF-16CB-8F15D08BD572}"/>
              </a:ext>
            </a:extLst>
          </p:cNvPr>
          <p:cNvSpPr txBox="1"/>
          <p:nvPr/>
        </p:nvSpPr>
        <p:spPr>
          <a:xfrm>
            <a:off x="1251285" y="891751"/>
            <a:ext cx="84060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There are two unknowns:</a:t>
            </a:r>
          </a:p>
          <a:p>
            <a:r>
              <a:rPr lang="en-US" dirty="0"/>
              <a:t>Camera pose : where the camera is and which direction it faces.</a:t>
            </a:r>
          </a:p>
          <a:p>
            <a:r>
              <a:rPr lang="en-US" dirty="0"/>
              <a:t>Scene map : the 3D Gaussians describing the room.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E21859-5CF8-FFF3-02E0-DD611229F59C}"/>
              </a:ext>
            </a:extLst>
          </p:cNvPr>
          <p:cNvSpPr txBox="1"/>
          <p:nvPr/>
        </p:nvSpPr>
        <p:spPr>
          <a:xfrm>
            <a:off x="3048000" y="2278848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GS-SLAM separates the work into three related tasks: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Tracking Estimate the camera pose for the current frame, using the existing map.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Mapping Improve the Gaussians using observed color and depth.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Bundle adjustment (BA) Refine camera poses and the map together using multiple keyframes.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52971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2A8590-C906-0E4D-7AD8-A4DA6C093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58" y="3132340"/>
            <a:ext cx="10758035" cy="30759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024CD5-E8AD-DC29-B188-793E126C702A}"/>
              </a:ext>
            </a:extLst>
          </p:cNvPr>
          <p:cNvSpPr txBox="1"/>
          <p:nvPr/>
        </p:nvSpPr>
        <p:spPr>
          <a:xfrm>
            <a:off x="712662" y="826168"/>
            <a:ext cx="96505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Constant-velocity initialization —</a:t>
            </a:r>
          </a:p>
          <a:p>
            <a:endParaRPr lang="en-US" dirty="0"/>
          </a:p>
          <a:p>
            <a:r>
              <a:rPr lang="en-US" dirty="0"/>
              <a:t>Before optimizing a camera pose, the algorithm needs a starting guess. The paper assumes that the camera continues moving approximately as it did in the previous frame.</a:t>
            </a:r>
          </a:p>
        </p:txBody>
      </p:sp>
    </p:spTree>
    <p:extLst>
      <p:ext uri="{BB962C8B-B14F-4D97-AF65-F5344CB8AC3E}">
        <p14:creationId xmlns:p14="http://schemas.microsoft.com/office/powerpoint/2010/main" val="2773959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2E95AC-3705-A8BC-A5C9-27D10743C1FF}"/>
              </a:ext>
            </a:extLst>
          </p:cNvPr>
          <p:cNvSpPr txBox="1"/>
          <p:nvPr/>
        </p:nvSpPr>
        <p:spPr>
          <a:xfrm>
            <a:off x="834188" y="1104581"/>
            <a:ext cx="83258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Tracking loss — how does the camera correct its guess? The paper defines the tracking loss as: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69F701-85D2-D643-9C8D-C6EFECE18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04" y="2417840"/>
            <a:ext cx="11480566" cy="281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3206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09C06B-E1D5-8A92-7B69-657F4D5D1099}"/>
              </a:ext>
            </a:extLst>
          </p:cNvPr>
          <p:cNvSpPr txBox="1"/>
          <p:nvPr/>
        </p:nvSpPr>
        <p:spPr>
          <a:xfrm>
            <a:off x="914400" y="457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Differentiable pose estimation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5F9C7-0875-E68C-E2F2-985FDF387ED2}"/>
              </a:ext>
            </a:extLst>
          </p:cNvPr>
          <p:cNvSpPr txBox="1"/>
          <p:nvPr/>
        </p:nvSpPr>
        <p:spPr>
          <a:xfrm>
            <a:off x="1684421" y="960203"/>
            <a:ext cx="9705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paper's rendering process has three important intermediate quantities: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9D07FB-AB8E-88F6-7D19-7D1B4172D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421" y="1463388"/>
            <a:ext cx="7729267" cy="10029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1D2707-3283-C124-D2BD-1A6BDCC88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957" y="2765345"/>
            <a:ext cx="8588534" cy="363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2172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541E59-96A1-311D-3819-9B1D15E1A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16" y="523767"/>
            <a:ext cx="10003445" cy="25242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FF3D2C-9104-8B60-365D-62CCAC7911B0}"/>
              </a:ext>
            </a:extLst>
          </p:cNvPr>
          <p:cNvSpPr txBox="1"/>
          <p:nvPr/>
        </p:nvSpPr>
        <p:spPr>
          <a:xfrm>
            <a:off x="535478" y="3244334"/>
            <a:ext cx="91860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>
                <a:solidFill>
                  <a:schemeClr val="tx1"/>
                </a:solidFill>
                <a:effectLst/>
                <a:latin typeface="+mn-lt"/>
              </a:rPr>
              <a:t>Under that assumption, the </a:t>
            </a:r>
            <a:r>
              <a:rPr lang="en-IN" sz="1800" b="0" i="0" dirty="0" err="1">
                <a:solidFill>
                  <a:schemeClr val="tx1"/>
                </a:solidFill>
                <a:effectLst/>
                <a:latin typeface="+mn-lt"/>
              </a:rPr>
              <a:t>color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does not change when the viewing direction changes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215CC2-07CA-DE82-C990-F889EB063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846" y="3048000"/>
            <a:ext cx="1390895" cy="8595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1B0BAD-0305-4E80-8599-572A03D46961}"/>
              </a:ext>
            </a:extLst>
          </p:cNvPr>
          <p:cNvSpPr txBox="1"/>
          <p:nvPr/>
        </p:nvSpPr>
        <p:spPr>
          <a:xfrm>
            <a:off x="535478" y="40504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camera pose also changes the projected covariance: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0A414E-9D43-A589-C08C-4315920A3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367" y="3907542"/>
            <a:ext cx="3684926" cy="6408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4F0DF9-97AF-0BFD-D5E3-BEAB7C2C2E3D}"/>
              </a:ext>
            </a:extLst>
          </p:cNvPr>
          <p:cNvSpPr txBox="1"/>
          <p:nvPr/>
        </p:nvSpPr>
        <p:spPr>
          <a:xfrm>
            <a:off x="535478" y="4767084"/>
            <a:ext cx="106298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Differentiating this expression with respect to the camera pose is possible, but it is more computationally involved.</a:t>
            </a:r>
          </a:p>
          <a:p>
            <a:endParaRPr lang="en-US" dirty="0"/>
          </a:p>
          <a:p>
            <a:r>
              <a:rPr lang="en-US" dirty="0"/>
              <a:t>The authors choose to ignore the backpropagation path through this projected covariance for efficiency.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D516CD-49CC-D966-F10C-6B8033D58B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179" y="86984"/>
            <a:ext cx="3143689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7637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908E9E-3F7A-327D-E8E8-9DDD9398F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58" y="340627"/>
            <a:ext cx="11644684" cy="617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0487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E7E738-FD75-30E0-F8D1-B2AF10441B5E}"/>
              </a:ext>
            </a:extLst>
          </p:cNvPr>
          <p:cNvSpPr txBox="1"/>
          <p:nvPr/>
        </p:nvSpPr>
        <p:spPr>
          <a:xfrm>
            <a:off x="513347" y="350240"/>
            <a:ext cx="90317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Coarse-to-fine tracking — why not optimize every pixel immediately?</a:t>
            </a:r>
            <a:endParaRPr lang="en-I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The paper identifies a practical problem: rendering and optimizing with all pixels can make tracking vulnerable to artifacts.</a:t>
            </a:r>
          </a:p>
          <a:p>
            <a:pPr indent="0" algn="l"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Imagine the current Gaussian map contains a floating Gaussian that creates a false patch in the rendered image.</a:t>
            </a:r>
          </a:p>
          <a:p>
            <a:pPr indent="0" algn="l"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If the camera optimizer tries to match every pixel, this artifact can pull the estimated pose in the wrong direction.</a:t>
            </a:r>
            <a:endParaRPr lang="en-IN" sz="1200" b="0" i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0213AF-5662-E781-0067-865C4F335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47" y="3976820"/>
            <a:ext cx="8441548" cy="23116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A781CF-E185-4756-9091-581CBEB62E7B}"/>
              </a:ext>
            </a:extLst>
          </p:cNvPr>
          <p:cNvSpPr txBox="1"/>
          <p:nvPr/>
        </p:nvSpPr>
        <p:spPr>
          <a:xfrm>
            <a:off x="513347" y="29945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GS-SLAM uses two stages to reduce that risk.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82735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B1C4EF-321B-D0B5-5447-4658BF4CC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30" y="0"/>
            <a:ext cx="9330275" cy="31447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277EEB-D375-0662-9DE6-B7650C8F5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30" y="3209660"/>
            <a:ext cx="9715286" cy="353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390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D544C9-3CD8-8101-66C9-9D11C24C5D69}"/>
              </a:ext>
            </a:extLst>
          </p:cNvPr>
          <p:cNvSpPr txBox="1"/>
          <p:nvPr/>
        </p:nvSpPr>
        <p:spPr>
          <a:xfrm>
            <a:off x="224590" y="299906"/>
            <a:ext cx="12192000" cy="625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dirty="0"/>
              <a:t>The full tracking sequence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New RGB frame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Predict pose using constant velocity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Coarse tracking at half resolution Obtain pose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Filter Gaussians using depth consistency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Fine tracking at full resolution Obtain refined pose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The coarse stage provides a good starting point; depth-based selection reduces the influence of unreliable geometry; and the fine stage refines the final pose.</a:t>
            </a:r>
          </a:p>
        </p:txBody>
      </p:sp>
    </p:spTree>
    <p:extLst>
      <p:ext uri="{BB962C8B-B14F-4D97-AF65-F5344CB8AC3E}">
        <p14:creationId xmlns:p14="http://schemas.microsoft.com/office/powerpoint/2010/main" val="8241225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C247D3-D472-80A0-E0A3-EF98104C3DB1}"/>
              </a:ext>
            </a:extLst>
          </p:cNvPr>
          <p:cNvSpPr txBox="1"/>
          <p:nvPr/>
        </p:nvSpPr>
        <p:spPr>
          <a:xfrm>
            <a:off x="368968" y="2965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Bundle adjustment (BA)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397164-5306-65E4-7FDE-2EBF4A28F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232" y="874475"/>
            <a:ext cx="8373979" cy="46290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954304-88BB-BE09-D9D9-6CEC363A2BE8}"/>
              </a:ext>
            </a:extLst>
          </p:cNvPr>
          <p:cNvSpPr txBox="1"/>
          <p:nvPr/>
        </p:nvSpPr>
        <p:spPr>
          <a:xfrm>
            <a:off x="368968" y="5915073"/>
            <a:ext cx="11213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Bundle adjustment searches for camera poses and a Gaussian map that explain these views together, rather than treating each view as an isolated reconstruction.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6171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06038C-17E0-A819-53E9-85A769CA75A7}"/>
              </a:ext>
            </a:extLst>
          </p:cNvPr>
          <p:cNvSpPr txBox="1"/>
          <p:nvPr/>
        </p:nvSpPr>
        <p:spPr>
          <a:xfrm>
            <a:off x="657727" y="525160"/>
            <a:ext cx="10282989" cy="580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/>
              <a:t>The paper uses two phases during BA.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500" dirty="0"/>
              <a:t>First half of iterations: optimize the scene representation , keeping the camera poses fixed. This allows the map to adapt to the selected observations without simultaneously moving the cameras.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500" dirty="0"/>
              <a:t>Second half of iterations: optimize both and the camera poses . Now the system can refine the geometry and camera alignment together.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5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This staged approach helps stabilize optimization. If both the map and poses change freely from the beginning, one can compensate for errors in the other, making optimization less stable.</a:t>
            </a:r>
          </a:p>
        </p:txBody>
      </p:sp>
    </p:spTree>
    <p:extLst>
      <p:ext uri="{BB962C8B-B14F-4D97-AF65-F5344CB8AC3E}">
        <p14:creationId xmlns:p14="http://schemas.microsoft.com/office/powerpoint/2010/main" val="31157387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70D8082-5680-A0DA-371B-D04F5CF99EA9}"/>
              </a:ext>
            </a:extLst>
          </p:cNvPr>
          <p:cNvGrpSpPr/>
          <p:nvPr/>
        </p:nvGrpSpPr>
        <p:grpSpPr>
          <a:xfrm>
            <a:off x="256674" y="212608"/>
            <a:ext cx="8021052" cy="1705110"/>
            <a:chOff x="1106906" y="1874602"/>
            <a:chExt cx="8021052" cy="170511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CDC7B5D-3D30-A342-0E6D-3A3BDAF066A2}"/>
                </a:ext>
              </a:extLst>
            </p:cNvPr>
            <p:cNvSpPr txBox="1"/>
            <p:nvPr/>
          </p:nvSpPr>
          <p:spPr>
            <a:xfrm>
              <a:off x="1106906" y="1874602"/>
              <a:ext cx="80210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Finding 1: GS-SLAM is not the fastest complete system in this table.</a:t>
              </a:r>
              <a:endParaRPr lang="en-IN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2ED26F6-39CE-5772-BD2E-932C7D12B474}"/>
                </a:ext>
              </a:extLst>
            </p:cNvPr>
            <p:cNvSpPr txBox="1"/>
            <p:nvPr/>
          </p:nvSpPr>
          <p:spPr>
            <a:xfrm>
              <a:off x="1106906" y="254249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Finding 2: GS-SLAM uses no neural decoder.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EB231D7-FA6B-2315-45CB-EF7C66E88B07}"/>
                </a:ext>
              </a:extLst>
            </p:cNvPr>
            <p:cNvSpPr txBox="1"/>
            <p:nvPr/>
          </p:nvSpPr>
          <p:spPr>
            <a:xfrm>
              <a:off x="1106906" y="3210380"/>
              <a:ext cx="71868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Finding 3: GS-SLAM consumes considerably more scene memory.</a:t>
              </a:r>
              <a:endParaRPr lang="en-IN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E76DA19-E452-CE36-50CA-EB08148D8808}"/>
              </a:ext>
            </a:extLst>
          </p:cNvPr>
          <p:cNvSpPr txBox="1"/>
          <p:nvPr/>
        </p:nvSpPr>
        <p:spPr>
          <a:xfrm>
            <a:off x="256674" y="2576720"/>
            <a:ext cx="52457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The authors also provide a lighter GS-SLAM configuration that uses zero-order spherical harmonics.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Zero-order SH represents color without the higher-order directional variation provided by first-degree 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This reduces the amount of color information stored per Gaussian.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51710-DCA4-3C25-1551-1B671460C5A4}"/>
              </a:ext>
            </a:extLst>
          </p:cNvPr>
          <p:cNvSpPr txBox="1"/>
          <p:nvPr/>
        </p:nvSpPr>
        <p:spPr>
          <a:xfrm>
            <a:off x="6200273" y="2348739"/>
            <a:ext cx="4154905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More expressive color representation: potentially better view-dependent appearance, higher memory use.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Simpler color representation: lower memory use, less ability to represent directional color changes.</a:t>
            </a:r>
          </a:p>
        </p:txBody>
      </p:sp>
    </p:spTree>
    <p:extLst>
      <p:ext uri="{BB962C8B-B14F-4D97-AF65-F5344CB8AC3E}">
        <p14:creationId xmlns:p14="http://schemas.microsoft.com/office/powerpoint/2010/main" val="12246265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98ED6E-DD94-2ABD-3FF2-F827D05B9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479" y="650407"/>
            <a:ext cx="8446121" cy="559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0661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1F9A79-2D6B-6395-00B4-4342BDF49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78" y="850502"/>
            <a:ext cx="10927933" cy="466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707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2FBAF6-BA6C-3F1B-68C7-07E4B3990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95" y="255732"/>
            <a:ext cx="8678568" cy="634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6008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6F1E0A-C4EB-41F3-E0AE-C2DAEDCDB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83" y="634127"/>
            <a:ext cx="9247657" cy="558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485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2578</Words>
  <Application>Microsoft Office PowerPoint</Application>
  <PresentationFormat>Widescreen</PresentationFormat>
  <Paragraphs>246</Paragraphs>
  <Slides>58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Aptos</vt:lpstr>
      <vt:lpstr>Aptos Display</vt:lpstr>
      <vt:lpstr>Arial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Athikesavan V</dc:creator>
  <cp:lastModifiedBy>Athikesavan V</cp:lastModifiedBy>
  <cp:revision>2</cp:revision>
  <dcterms:created xsi:type="dcterms:W3CDTF">2026-10-20T08:43:56Z</dcterms:created>
  <dcterms:modified xsi:type="dcterms:W3CDTF">2026-10-21T04:08:40Z</dcterms:modified>
</cp:coreProperties>
</file>