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6" r:id="rId3"/>
    <p:sldId id="265" r:id="rId4"/>
    <p:sldId id="264" r:id="rId5"/>
    <p:sldId id="263" r:id="rId6"/>
    <p:sldId id="262" r:id="rId7"/>
    <p:sldId id="261" r:id="rId8"/>
    <p:sldId id="260" r:id="rId9"/>
    <p:sldId id="259" r:id="rId10"/>
    <p:sldId id="258" r:id="rId11"/>
    <p:sldId id="266" r:id="rId12"/>
    <p:sldId id="270" r:id="rId13"/>
    <p:sldId id="267" r:id="rId14"/>
    <p:sldId id="268" r:id="rId15"/>
    <p:sldId id="269" r:id="rId16"/>
    <p:sldId id="271" r:id="rId17"/>
    <p:sldId id="272" r:id="rId18"/>
    <p:sldId id="273" r:id="rId19"/>
    <p:sldId id="285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49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7E2C7-D03C-4161-9846-ECED8017F8D9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9728D-5BE2-430C-B1A9-E8784A75F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672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9728D-5BE2-430C-B1A9-E8784A75FC3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24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A408-E573-7DF1-7399-D54B3AA39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13C3B-C635-595C-2FD4-25789BE27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B0FA-56E8-331E-ECC7-4900099B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D4832-4A76-562C-68D4-3A838FA9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E128F-8160-0950-04F2-26AAE198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459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B517-C2FE-5EF4-5327-2A7AEF68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D9F7-1B10-9E3F-6C1E-55FDA8AC2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55849-5D7D-525A-A863-FB04BD7B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16626-0067-CEBF-D65A-4FC4208D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E9784-CCD2-8B4C-FF8E-8F584403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05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4D8F-6062-E068-87F2-ED07BF3D4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0174F-CB35-F2EC-63C4-CE34FCFE3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74925-9F03-2892-D047-928050EDF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5346B-070E-3FC2-E6AD-31A835C1B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68EF-0475-FAE1-7A91-071A7598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463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0669-7D64-E802-3FAA-7656BA37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4FFD5-6FE3-3056-B8BE-D49336371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116E-BB94-A99D-791E-90F6BD7C2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2B426-0FE1-6DE7-DF4C-BB03B5E8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1BD3E-7EA8-B9E2-3E9D-C1C8E6E6C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2B683-38E1-3831-0A69-BA42A2919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5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15B4-2752-7C6B-5FCE-338F7621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EB273-F3FC-3591-2575-845622778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27B09-336C-B758-155B-FC2E9BDE0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6D08C-F816-889A-C5CB-B14562EE2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4BAFA-485B-F672-778E-C7235E4BF6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D97FF-6C1D-7465-5492-1A484F44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8331B-CDB2-9FAC-4A45-7C35ED51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20330-8E58-3412-E879-7D77463D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54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8A754-FA08-3AFB-14AB-4F8606D5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84550-8812-8BC9-89DE-F009F047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314D3B-9A67-165F-B957-8ED408B5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C6A4F-2DBF-E013-6D7D-7ECC0D57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02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1B7CC3-E80C-F974-AC62-4D7D4FE6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63B82-9A37-67F5-DC4E-4DBA8E7D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0D275-DDE1-7B53-FAC7-7AF11CF4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62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18B7F-4648-D348-09C6-699F315A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78876-A646-1316-AB05-1D168C890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4A0C9-5346-A40C-84B4-32920C138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21A1A-F56E-57E7-2E80-A6A13EAAB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D138E-BE9D-26B9-575F-0A15E4C4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5280D-359D-6CD8-557F-2979F677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5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0B7C-F5A9-08EE-3A35-BC74A52D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D61BF6-7B8B-1EAD-CFAE-2E09A0D4BB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DD24D-DBFF-9DB6-73C6-BD456439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C57A-96FA-52B4-0A41-2E363A59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F9A2B-3A06-692B-051C-96050B25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B7D6C-AEAF-8A14-4E63-F4B7676B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46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F18C-81E0-E890-682D-FE8A2155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21F27-0218-C21F-2DB4-4FD4E95B6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5D297-4002-9026-2ADE-E4B6BDDB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E6F65-05B8-A260-2012-A7BBDB13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B8981-C37B-2AEA-98AD-DED0848F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31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E8ECE-8B14-DD2A-405F-797F5C8868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7A977-B55E-6024-9153-9BF6BB8C4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B14A-526E-F031-2020-42F8DB52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7D9AB-3561-E886-45EF-37DC77D4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AC174-CE48-4E32-762A-45D01B24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2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845F0-A75A-52C5-5C4C-DED12A2E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96E3C-01B8-1453-4E61-D350AE697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EFAAA-D8DB-BE23-EF6A-2E63AD5CB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C0BD9-395A-45BF-AF07-50E159FA7F79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5D98-C01A-5632-6A1F-65C077223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A2B00-0DE9-F489-56F5-6A0EA39B7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DF888-B46A-4153-81D4-43FE978E2C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11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F1233-595E-72A9-9FE4-C318BB7C199E}"/>
              </a:ext>
            </a:extLst>
          </p:cNvPr>
          <p:cNvSpPr txBox="1"/>
          <p:nvPr/>
        </p:nvSpPr>
        <p:spPr>
          <a:xfrm>
            <a:off x="2248593" y="1597074"/>
            <a:ext cx="60932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Wild-GS: Real-Time Novel View Synthesis from Unconstrained Photo Collections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6884E-6BF7-F556-6E39-F50CBEA91EE8}"/>
              </a:ext>
            </a:extLst>
          </p:cNvPr>
          <p:cNvSpPr txBox="1"/>
          <p:nvPr/>
        </p:nvSpPr>
        <p:spPr>
          <a:xfrm>
            <a:off x="1916085" y="3429000"/>
            <a:ext cx="87408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Wild-GS is trying to solve one main problem: </a:t>
            </a:r>
          </a:p>
          <a:p>
            <a:r>
              <a:rPr lang="en-US" dirty="0"/>
              <a:t>		How can we reconstruct a realistic 3D scene from tourist photographs taken under different lighting conditions, with different cameras, and with temporary objects appearing in the images — without the high computational cost of </a:t>
            </a:r>
            <a:r>
              <a:rPr lang="en-US" dirty="0" err="1"/>
              <a:t>NeRF</a:t>
            </a:r>
            <a:r>
              <a:rPr lang="en-US" dirty="0"/>
              <a:t>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71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373FCB-3283-CAFA-6A22-268C9DB9C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35" y="1421779"/>
            <a:ext cx="2351555" cy="4014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673A7-159A-DF1C-CB58-E89D5D11E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199" y="846729"/>
            <a:ext cx="6904413" cy="13624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BE69A1-B097-C009-338D-CD1A427C502B}"/>
              </a:ext>
            </a:extLst>
          </p:cNvPr>
          <p:cNvSpPr txBox="1"/>
          <p:nvPr/>
        </p:nvSpPr>
        <p:spPr>
          <a:xfrm>
            <a:off x="3688764" y="47739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3D Gaussian density at a point  x  is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B05AA-1AAB-FE11-263C-9D544DFD6015}"/>
              </a:ext>
            </a:extLst>
          </p:cNvPr>
          <p:cNvSpPr txBox="1"/>
          <p:nvPr/>
        </p:nvSpPr>
        <p:spPr>
          <a:xfrm>
            <a:off x="533577" y="683115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Center</a:t>
            </a:r>
            <a:r>
              <a:rPr lang="en-IN" dirty="0"/>
              <a:t>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D94ABD-EC86-6D41-9D4B-7136A4553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71" y="2153111"/>
            <a:ext cx="6676848" cy="422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5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90EA9-D61C-A360-1AF9-5F296BDC2CE3}"/>
              </a:ext>
            </a:extLst>
          </p:cNvPr>
          <p:cNvSpPr txBox="1"/>
          <p:nvPr/>
        </p:nvSpPr>
        <p:spPr>
          <a:xfrm>
            <a:off x="619299" y="40553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Densification and pruning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3F209-7287-10B6-5338-6FB595CBC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665" y="818785"/>
            <a:ext cx="8485491" cy="579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78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3FDE9-B0D0-B441-ACD4-1199D442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81" y="285145"/>
            <a:ext cx="10541989" cy="18096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BCB91A-27B4-AE0B-C782-9A7A5290F18D}"/>
              </a:ext>
            </a:extLst>
          </p:cNvPr>
          <p:cNvSpPr txBox="1"/>
          <p:nvPr/>
        </p:nvSpPr>
        <p:spPr>
          <a:xfrm>
            <a:off x="260465" y="2605731"/>
            <a:ext cx="11671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Wild-GS aims to make 3D Gaussian Splatting robust to changing appearances and transient objects in tourist photographs while retaining fast training and rendering.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A25D3A-A38C-0593-CD5B-F371A847AC7D}"/>
              </a:ext>
            </a:extLst>
          </p:cNvPr>
          <p:cNvSpPr txBox="1"/>
          <p:nvPr/>
        </p:nvSpPr>
        <p:spPr>
          <a:xfrm>
            <a:off x="260465" y="3605939"/>
            <a:ext cx="118096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2D Parsing Module: Processes reference images to extract global appearance information and predict masks that identify static scene regions while excluding transient objects.</a:t>
            </a:r>
          </a:p>
          <a:p>
            <a:endParaRPr lang="en-US" dirty="0"/>
          </a:p>
          <a:p>
            <a:r>
              <a:rPr lang="en-US" dirty="0"/>
              <a:t>2. 3D Wrapping Module: Maps 3D Gaussian positions to local appearance embeddings using triplane features, associating detailed image appearance with the corresponding 3D locations.</a:t>
            </a:r>
          </a:p>
          <a:p>
            <a:endParaRPr lang="en-US" dirty="0"/>
          </a:p>
          <a:p>
            <a:r>
              <a:rPr lang="en-US" dirty="0"/>
              <a:t>3. Fusion Network: Combines global appearance embeddings, local appearance embeddings, and intrinsic Gaussian features to predict adaptive spherical harmonic (SH) coefficients for each Gaussian, enabling appropriate color rendering under different viewing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14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81F1D-B6D2-06E9-6902-590E14053C68}"/>
              </a:ext>
            </a:extLst>
          </p:cNvPr>
          <p:cNvSpPr txBox="1"/>
          <p:nvPr/>
        </p:nvSpPr>
        <p:spPr>
          <a:xfrm>
            <a:off x="469670" y="13953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Hierarchical Appearance </a:t>
            </a:r>
            <a:r>
              <a:rPr lang="en-IN" dirty="0" err="1"/>
              <a:t>Modeling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40B90-0A78-2406-7468-7A787AC947D5}"/>
              </a:ext>
            </a:extLst>
          </p:cNvPr>
          <p:cNvSpPr txBox="1"/>
          <p:nvPr/>
        </p:nvSpPr>
        <p:spPr>
          <a:xfrm>
            <a:off x="469670" y="1120432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 Global appearance embedding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E1A96-C439-DD48-760D-E86F0567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853" y="994556"/>
            <a:ext cx="2304911" cy="6210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4BC713-8210-C4A4-4011-9F121541DAB6}"/>
              </a:ext>
            </a:extLst>
          </p:cNvPr>
          <p:cNvSpPr txBox="1"/>
          <p:nvPr/>
        </p:nvSpPr>
        <p:spPr>
          <a:xfrm>
            <a:off x="469670" y="1741516"/>
            <a:ext cx="1238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represents scene-wide appearance information for a reference view, such as illumination level and tone mapping.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CDAC4-4339-230C-32A1-576B1E014999}"/>
              </a:ext>
            </a:extLst>
          </p:cNvPr>
          <p:cNvSpPr txBox="1"/>
          <p:nvPr/>
        </p:nvSpPr>
        <p:spPr>
          <a:xfrm>
            <a:off x="469670" y="2362600"/>
            <a:ext cx="642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 Local appearance embedding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E4FC96-053B-6876-00D5-56BCB5203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934" y="2110848"/>
            <a:ext cx="2184784" cy="7232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05BA47-4CC8-1BAC-79A3-9DEFD0BF65A1}"/>
              </a:ext>
            </a:extLst>
          </p:cNvPr>
          <p:cNvSpPr txBox="1"/>
          <p:nvPr/>
        </p:nvSpPr>
        <p:spPr>
          <a:xfrm>
            <a:off x="469671" y="2983684"/>
            <a:ext cx="11550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represents the local, position-dependent appearance of Gaussian  </a:t>
            </a:r>
            <a:r>
              <a:rPr lang="en-US" dirty="0" err="1"/>
              <a:t>i</a:t>
            </a:r>
            <a:r>
              <a:rPr lang="en-US" dirty="0"/>
              <a:t> , including variations in local reflectance.</a:t>
            </a:r>
          </a:p>
          <a:p>
            <a:endParaRPr lang="en-US" dirty="0"/>
          </a:p>
          <a:p>
            <a:r>
              <a:rPr lang="en-US" dirty="0"/>
              <a:t>Two Gaussians in the same scene can have different local embeddings because they correspond to different surfaces or locations.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5F6EE9-799F-F397-05F1-B61162C8C6F5}"/>
              </a:ext>
            </a:extLst>
          </p:cNvPr>
          <p:cNvSpPr txBox="1"/>
          <p:nvPr/>
        </p:nvSpPr>
        <p:spPr>
          <a:xfrm>
            <a:off x="469670" y="4333610"/>
            <a:ext cx="642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Intrinsic feature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BBBFF2-2324-D908-5E10-AC85A31B2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535" y="4115450"/>
            <a:ext cx="1792955" cy="6443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6CACA2D-6B4E-0D56-A26C-F9992D65D060}"/>
              </a:ext>
            </a:extLst>
          </p:cNvPr>
          <p:cNvSpPr txBox="1"/>
          <p:nvPr/>
        </p:nvSpPr>
        <p:spPr>
          <a:xfrm>
            <a:off x="495943" y="4770028"/>
            <a:ext cx="116960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stores inherent attributes associated with the material or dominant region represented by Gaussian  </a:t>
            </a:r>
            <a:r>
              <a:rPr lang="en-US" dirty="0" err="1"/>
              <a:t>i</a:t>
            </a:r>
            <a:r>
              <a:rPr lang="en-US" dirty="0"/>
              <a:t> .</a:t>
            </a:r>
          </a:p>
          <a:p>
            <a:endParaRPr lang="en-US" dirty="0"/>
          </a:p>
          <a:p>
            <a:r>
              <a:rPr lang="en-US" dirty="0"/>
              <a:t>For example, it may help distinguish the appearance characteristics of stone from those of glass.</a:t>
            </a:r>
          </a:p>
          <a:p>
            <a:endParaRPr lang="en-US" dirty="0"/>
          </a:p>
          <a:p>
            <a:r>
              <a:rPr lang="en-US" dirty="0"/>
              <a:t>The exact physical meaning of these learned features depends on how the network is trained; they are not necessarily direct measurements of real-world material properties.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682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A4596-6A6A-745D-BFF3-470362596F8E}"/>
              </a:ext>
            </a:extLst>
          </p:cNvPr>
          <p:cNvSpPr txBox="1"/>
          <p:nvPr/>
        </p:nvSpPr>
        <p:spPr>
          <a:xfrm>
            <a:off x="586048" y="438789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Concatenate the three components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F2CA1-7159-962E-0521-A2183B36F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8" y="979821"/>
            <a:ext cx="5065231" cy="759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F49ECF-6A33-0350-EBC6-458CACFEB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42129"/>
            <a:ext cx="2675400" cy="635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6C946D-3AFE-2ACD-C324-995A121220EF}"/>
              </a:ext>
            </a:extLst>
          </p:cNvPr>
          <p:cNvSpPr txBox="1"/>
          <p:nvPr/>
        </p:nvSpPr>
        <p:spPr>
          <a:xfrm>
            <a:off x="586048" y="221771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Pass the combined feature through the fusion network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586281-E3CB-FCD8-DCE7-637EBEF7D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48" y="2963332"/>
            <a:ext cx="6502828" cy="7962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497125-2444-A1E0-50EE-71E0A3AD5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25" y="4135886"/>
            <a:ext cx="7707200" cy="112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708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B5FAE5-B864-3F98-1936-9720EF1CFCA4}"/>
              </a:ext>
            </a:extLst>
          </p:cNvPr>
          <p:cNvSpPr txBox="1"/>
          <p:nvPr/>
        </p:nvSpPr>
        <p:spPr>
          <a:xfrm>
            <a:off x="336665" y="658629"/>
            <a:ext cx="88904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0" i="0" dirty="0">
                <a:solidFill>
                  <a:schemeClr val="tx1"/>
                </a:solidFill>
                <a:effectLst/>
                <a:latin typeface="+mn-lt"/>
              </a:rPr>
              <a:t>The output is not necessarily a single RGB </a:t>
            </a:r>
            <a:r>
              <a:rPr lang="en-IN" sz="2200" b="0" i="0" dirty="0" err="1">
                <a:solidFill>
                  <a:schemeClr val="tx1"/>
                </a:solidFill>
                <a:effectLst/>
                <a:latin typeface="+mn-lt"/>
              </a:rPr>
              <a:t>color</a:t>
            </a:r>
            <a:r>
              <a:rPr lang="en-IN" sz="2200" b="0" i="0" dirty="0">
                <a:solidFill>
                  <a:schemeClr val="tx1"/>
                </a:solidFill>
                <a:effectLst/>
                <a:latin typeface="+mn-lt"/>
              </a:rPr>
              <a:t>. It is a set of SH coefficients used to calculate the Gaussian's view-dependent </a:t>
            </a:r>
            <a:r>
              <a:rPr lang="en-IN" sz="2200" b="0" i="0" dirty="0" err="1">
                <a:solidFill>
                  <a:schemeClr val="tx1"/>
                </a:solidFill>
                <a:effectLst/>
                <a:latin typeface="+mn-lt"/>
              </a:rPr>
              <a:t>color</a:t>
            </a:r>
            <a:r>
              <a:rPr lang="en-IN" sz="22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D5E09-31FF-DBB1-1ECD-02407F064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49" y="2003754"/>
            <a:ext cx="10352365" cy="3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0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5C1DA8-0F56-427A-E705-FFFF2BC8449F}"/>
              </a:ext>
            </a:extLst>
          </p:cNvPr>
          <p:cNvSpPr txBox="1"/>
          <p:nvPr/>
        </p:nvSpPr>
        <p:spPr>
          <a:xfrm>
            <a:off x="752301" y="1151741"/>
            <a:ext cx="10420003" cy="455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It establishes a spatial correspondence between image appearance and 3D Gaussians.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Instead of applying the same appearance adjustment to the entire scene,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Wild-GS can adapt the appearance of individual regions, preserving fine details such as local shadows, highlights, and texture variations.</a:t>
            </a:r>
          </a:p>
        </p:txBody>
      </p:sp>
    </p:spTree>
    <p:extLst>
      <p:ext uri="{BB962C8B-B14F-4D97-AF65-F5344CB8AC3E}">
        <p14:creationId xmlns:p14="http://schemas.microsoft.com/office/powerpoint/2010/main" val="893671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6AE3DB-CF82-C6DA-B28E-57B35C9C64C5}"/>
              </a:ext>
            </a:extLst>
          </p:cNvPr>
          <p:cNvSpPr txBox="1"/>
          <p:nvPr/>
        </p:nvSpPr>
        <p:spPr>
          <a:xfrm>
            <a:off x="519546" y="30578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Local Appearance Control — Triplane Color Creation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054F1-E6D1-F0EC-E8C2-A59AAE305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29" y="962866"/>
            <a:ext cx="10187247" cy="539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84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BA62D-4729-9E99-0A65-50197106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5" y="536280"/>
            <a:ext cx="11207489" cy="539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3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4D9B4D-15B4-3ABC-7861-FC0863A1D21D}"/>
              </a:ext>
            </a:extLst>
          </p:cNvPr>
          <p:cNvSpPr txBox="1"/>
          <p:nvPr/>
        </p:nvSpPr>
        <p:spPr>
          <a:xfrm>
            <a:off x="897775" y="631767"/>
            <a:ext cx="10124902" cy="520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F0000"/>
                </a:solidFill>
              </a:rPr>
              <a:t>Why the visibility mask matters: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if a tourist covers a building in the reference image, the corresponding pixels should not be treated as reliable samples of the permanent scene.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mask excludes those pixels before back-projection.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One important detail: back-projection reconstructs the visible surface using the estimated depth. It does not recover hidden surfaces that the camera cannot see.</a:t>
            </a:r>
          </a:p>
        </p:txBody>
      </p:sp>
    </p:spTree>
    <p:extLst>
      <p:ext uri="{BB962C8B-B14F-4D97-AF65-F5344CB8AC3E}">
        <p14:creationId xmlns:p14="http://schemas.microsoft.com/office/powerpoint/2010/main" val="3390313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367582-7223-200B-777A-5DCFEEC45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56" y="805901"/>
            <a:ext cx="11196273" cy="483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2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27F3D6-2D00-8DC4-47B4-2F84EDF81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101" y="407929"/>
            <a:ext cx="9445186" cy="604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1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84326-DEEC-00AD-0460-BE440069F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453" y="183276"/>
            <a:ext cx="9131456" cy="649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00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E7185B-A9E1-E7E3-3DCC-99908CC95DF2}"/>
              </a:ext>
            </a:extLst>
          </p:cNvPr>
          <p:cNvSpPr txBox="1"/>
          <p:nvPr/>
        </p:nvSpPr>
        <p:spPr>
          <a:xfrm>
            <a:off x="502920" y="327495"/>
            <a:ext cx="6093228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Efficient Triplane Sampling.</a:t>
            </a:r>
            <a:endParaRPr lang="en-IN" sz="195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9DDCDA-A690-0031-E08C-A687EAB449A8}"/>
              </a:ext>
            </a:extLst>
          </p:cNvPr>
          <p:cNvSpPr txBox="1"/>
          <p:nvPr/>
        </p:nvSpPr>
        <p:spPr>
          <a:xfrm>
            <a:off x="502919" y="876684"/>
            <a:ext cx="10935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computational problem: high-resolution triplane feature maps are expensive to sample, but most 3D Gaussians occupy only a small region of those maps.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824D0-4C4E-07AA-B0FF-A0460CE56030}"/>
              </a:ext>
            </a:extLst>
          </p:cNvPr>
          <p:cNvSpPr txBox="1"/>
          <p:nvPr/>
        </p:nvSpPr>
        <p:spPr>
          <a:xfrm>
            <a:off x="502919" y="1946623"/>
            <a:ext cx="9372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Find the region containing most Gaussians. Use an axis-aligned bounding box (AABB), defined by minimum and maximum coordinates along X, Y, and Z.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Restrict triplane sampling to that region. Instead of allocating sampling resources across the entire spatial extent, Wild-GS focuses on the region where Gaussians are concentrated. This improves feature-map utilization and reduces sampling costs.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</a:rPr>
              <a:t>Handle Gaussians outside the box. Rather than sampling the triplane, assign those Gaussians a shared learnable embedding vector,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C2FC7F-E54A-3D17-EA59-66071929C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603" y="2782668"/>
            <a:ext cx="1414614" cy="6463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BC5094-9FF4-2504-E875-55D4314DA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23" y="4161165"/>
            <a:ext cx="9782687" cy="23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25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DA492A-5637-B8A1-7717-7E24CCFB6106}"/>
              </a:ext>
            </a:extLst>
          </p:cNvPr>
          <p:cNvSpPr txBox="1"/>
          <p:nvPr/>
        </p:nvSpPr>
        <p:spPr>
          <a:xfrm>
            <a:off x="669175" y="289160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Depth Regularization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B7D87-7510-01FA-13B6-A0F8CEB78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39" y="1469785"/>
            <a:ext cx="10563318" cy="391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78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CFA8D-3E84-2D02-0106-0C6DB76B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5" y="213825"/>
            <a:ext cx="11906089" cy="37636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3BF1E9-E69E-9D1D-AE4D-9512B6AE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716" y="4313452"/>
            <a:ext cx="7042565" cy="162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72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E2B429-9795-1365-ACB6-A2B1242F258B}"/>
              </a:ext>
            </a:extLst>
          </p:cNvPr>
          <p:cNvSpPr txBox="1"/>
          <p:nvPr/>
        </p:nvSpPr>
        <p:spPr>
          <a:xfrm>
            <a:off x="1201189" y="644066"/>
            <a:ext cx="91453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equation you pasted is Pearson correlation, not a conventional minimization loss by itself.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training objective maximizes this correlation, higher is better.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the training objective minimizes a loss, the corresponding expression would typically be: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2B6A4-53A8-B6FA-6764-E5BCEB094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135" y="2416725"/>
            <a:ext cx="2410488" cy="65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886E6-86B9-C3E8-B82F-688067E87213}"/>
              </a:ext>
            </a:extLst>
          </p:cNvPr>
          <p:cNvSpPr txBox="1"/>
          <p:nvPr/>
        </p:nvSpPr>
        <p:spPr>
          <a:xfrm>
            <a:off x="768928" y="38891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Handling Transient Objects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EE379-6C02-7E6C-78AD-504484BD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8" y="1327020"/>
            <a:ext cx="10896293" cy="447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537CD-B42E-FB02-A187-20358FB3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5" y="835173"/>
            <a:ext cx="11520889" cy="461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34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D63B8B-A0C4-1B18-5A45-DDEE7F678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55" y="559184"/>
            <a:ext cx="10372221" cy="529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48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E1B202-6E7D-39C4-923A-636AB78FF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5" y="587559"/>
            <a:ext cx="11531224" cy="3056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343A46-E6AB-6643-35B9-3166E02DF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8" y="3978770"/>
            <a:ext cx="11532683" cy="164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94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7D814-F19C-28FB-8AB6-6A16254540B4}"/>
              </a:ext>
            </a:extLst>
          </p:cNvPr>
          <p:cNvSpPr txBox="1"/>
          <p:nvPr/>
        </p:nvSpPr>
        <p:spPr>
          <a:xfrm>
            <a:off x="235527" y="474345"/>
            <a:ext cx="1172094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Ablation study: What happens when components are removed?</a:t>
            </a:r>
          </a:p>
          <a:p>
            <a:endParaRPr lang="en-US" dirty="0"/>
          </a:p>
          <a:p>
            <a:r>
              <a:rPr lang="en-US" dirty="0"/>
              <a:t>An ablation study removes one component at a time to test its contribution.</a:t>
            </a:r>
          </a:p>
          <a:p>
            <a:endParaRPr lang="en-US" dirty="0"/>
          </a:p>
          <a:p>
            <a:r>
              <a:rPr lang="en-US" b="1" dirty="0"/>
              <a:t>A. Remove depth regularization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Observed problem: missing or incorrect geometry Depth regularization constrains the depth map so that back-projected reference pixels align with the correct 3D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it, the local appearance features may be associated with incorrectly positioned Gaussians.</a:t>
            </a:r>
          </a:p>
          <a:p>
            <a:r>
              <a:rPr lang="en-IN" b="1" dirty="0"/>
              <a:t>B. Remove the transient mask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Observed problem: ghosting and </a:t>
            </a:r>
            <a:r>
              <a:rPr lang="en-IN" dirty="0" err="1"/>
              <a:t>color</a:t>
            </a:r>
            <a:r>
              <a:rPr lang="en-IN" dirty="0"/>
              <a:t> inconsistencies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People and other temporary objects may appear at different positions in different photographs.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Without the mask, their pixels can contaminate scene reconstruction and appearance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Result: ghost-like objects and inconsistent </a:t>
            </a:r>
            <a:r>
              <a:rPr lang="en-IN" dirty="0" err="1"/>
              <a:t>colors</a:t>
            </a:r>
            <a:r>
              <a:rPr lang="en-IN" dirty="0"/>
              <a:t>, particularly in regions heavily occluded by transient objects.</a:t>
            </a:r>
          </a:p>
          <a:p>
            <a:r>
              <a:rPr lang="en-IN" b="1" dirty="0"/>
              <a:t>C. Remove global appearance encoding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Observed problem: weak global </a:t>
            </a:r>
            <a:r>
              <a:rPr lang="en-IN" dirty="0" err="1"/>
              <a:t>color</a:t>
            </a:r>
            <a:r>
              <a:rPr lang="en-IN" dirty="0"/>
              <a:t>-tone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local triplane already captures substantial appearance information for the reference viewpoint. Therefore, removing the global embedding may not cause a large reduction in ordinary image-quality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However, the model struggles to transfer a coherent global </a:t>
            </a:r>
            <a:r>
              <a:rPr lang="en-IN" dirty="0" err="1"/>
              <a:t>color</a:t>
            </a:r>
            <a:r>
              <a:rPr lang="en-IN" dirty="0"/>
              <a:t> tone to another viewpoint or appearance condition.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151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7732BF-D014-76AC-1093-D07887C4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61" y="637235"/>
            <a:ext cx="11445077" cy="55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45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833</Words>
  <Application>Microsoft Office PowerPoint</Application>
  <PresentationFormat>Widescreen</PresentationFormat>
  <Paragraphs>63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Athikesavan V</dc:creator>
  <cp:lastModifiedBy>Athikesavan V</cp:lastModifiedBy>
  <cp:revision>1</cp:revision>
  <dcterms:created xsi:type="dcterms:W3CDTF">2026-10-20T16:49:04Z</dcterms:created>
  <dcterms:modified xsi:type="dcterms:W3CDTF">2026-10-21T00:45:16Z</dcterms:modified>
</cp:coreProperties>
</file>